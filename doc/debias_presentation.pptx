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DM Sans Medium"/>
      <p:regular r:id="rId42"/>
      <p:bold r:id="rId43"/>
      <p:italic r:id="rId44"/>
      <p:boldItalic r:id="rId45"/>
    </p:embeddedFont>
    <p:embeddedFont>
      <p:font typeface="DM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E1E398-34F1-453E-84D0-733EE4AD50B5}">
  <a:tblStyle styleId="{08E1E398-34F1-453E-84D0-733EE4AD50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DMSansMedium-regular.fntdata"/><Relationship Id="rId41" Type="http://schemas.openxmlformats.org/officeDocument/2006/relationships/slide" Target="slides/slide35.xml"/><Relationship Id="rId44" Type="http://schemas.openxmlformats.org/officeDocument/2006/relationships/font" Target="fonts/DMSansMedium-italic.fntdata"/><Relationship Id="rId43" Type="http://schemas.openxmlformats.org/officeDocument/2006/relationships/font" Target="fonts/DMSansMedium-bold.fntdata"/><Relationship Id="rId46" Type="http://schemas.openxmlformats.org/officeDocument/2006/relationships/font" Target="fonts/DMSans-regular.fntdata"/><Relationship Id="rId45" Type="http://schemas.openxmlformats.org/officeDocument/2006/relationships/font" Target="fonts/DMSans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DMSans-italic.fntdata"/><Relationship Id="rId47" Type="http://schemas.openxmlformats.org/officeDocument/2006/relationships/font" Target="fonts/DMSans-bold.fntdata"/><Relationship Id="rId49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</a:rPr>
              <a:t>We should NOT read the title :)!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2be44b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82be44b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need to read out all the features.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6065d9a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96065d9a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need to read out all the features.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82be44b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82be44b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E.g. &gt; 144 years old. What is isolation forest. </a:t>
            </a:r>
            <a:r>
              <a:rPr lang="en">
                <a:solidFill>
                  <a:srgbClr val="595959"/>
                </a:solidFill>
              </a:rPr>
              <a:t>iForest trained on training data only. </a:t>
            </a:r>
            <a:r>
              <a:rPr lang="en">
                <a:solidFill>
                  <a:schemeClr val="dk1"/>
                </a:solidFill>
              </a:rPr>
              <a:t> Remind what is SMOTE. Also, </a:t>
            </a:r>
            <a:r>
              <a:rPr lang="en">
                <a:solidFill>
                  <a:srgbClr val="595959"/>
                </a:solidFill>
              </a:rPr>
              <a:t>why it was important to split off test before iForest and SMOTE. 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55d5157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55d5157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brief on these two slides. Note that class distribution for targets is now 50/50, but some shifting in other distributions…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55d51572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55d51572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…more noticeable for numerical features.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72db716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572db716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Entangling gates capture nonlinear correlations across multiple features. One layer is shown. Layers can be chained together for more expressivity. 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572db716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572db716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af5ccdf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5af5ccdf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5af5ccdf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5af5ccdf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5a9ff39a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5a9ff39a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also train a neural network which gives us a flexible nonlinear comparison to XGBoost.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the baseline network, we also tested SMOTE and QELM(Quantum Extreme Learning Machine) variants to see whether performance improves more from class balancing or from richer feature representations.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b760ac3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5b760ac3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main takeaway is trade-off rather than a single best model.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QELM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(Quantum Extreme Learning Machine)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is competitive, especially with XGBoost, but it does not clearly outperform the strongest classical setup.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Weighted XGBoost gives the lowest missed-default rate, while SMOTE helps the neural network catch more defaults at the cost of many more false alarms.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 the best choice depends on whether we care more about bank risk or borrower risk.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5a1f0475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5a1f0475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did not know about this at the start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82be44b2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82be44b2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94612fa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94612fa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5b760ac36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5b760ac36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586ce7af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586ce7af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586ce7af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586ce7af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5b760ac3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5b760ac3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5b760ac36_5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f5b760ac36_5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586ce7af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586ce7af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952bf668b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952bf668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5b760ac36_5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5b760ac36_5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5b760ac36_5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5b760ac36_5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952bf668b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952bf668b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952bf668b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952bf668b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952bf668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f952bf668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952bf668b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f952bf668b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586ce7af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f586ce7af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586ce7af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f586ce7af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586ce7af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f586ce7af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586ce7af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f586ce7af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586ce7af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f586ce7af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586ce7af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f586ce7af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5b760ac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f5b760ac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E.g. &gt; 144 years old. What is isolation forest. </a:t>
            </a:r>
            <a:r>
              <a:rPr lang="en">
                <a:solidFill>
                  <a:srgbClr val="595959"/>
                </a:solidFill>
              </a:rPr>
              <a:t>iForest trained on training data only. </a:t>
            </a:r>
            <a:r>
              <a:rPr lang="en">
                <a:solidFill>
                  <a:schemeClr val="dk1"/>
                </a:solidFill>
              </a:rPr>
              <a:t> Remind what is SMOTE. Also, </a:t>
            </a:r>
            <a:r>
              <a:rPr lang="en">
                <a:solidFill>
                  <a:srgbClr val="595959"/>
                </a:solidFill>
              </a:rPr>
              <a:t>why it was important to split off test before iForest and SMOTE. 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Calibri"/>
                <a:ea typeface="Calibri"/>
                <a:cs typeface="Calibri"/>
                <a:sym typeface="Calibri"/>
              </a:rPr>
              <a:t>Detecting Bias in Loan Default Prediction 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using Classical and Quantum-Hybrid Approach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 Dai Ngo, Jeremy Perkins, Naomi Phan, Joyce van de Vegte, Yuanming Wang, Da Zhang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1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Problem Formulation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4"/>
          <p:cNvSpPr/>
          <p:nvPr/>
        </p:nvSpPr>
        <p:spPr>
          <a:xfrm>
            <a:off x="311700" y="1900000"/>
            <a:ext cx="2680200" cy="2199900"/>
          </a:xfrm>
          <a:prstGeom prst="roundRect">
            <a:avLst>
              <a:gd fmla="val 8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1371800" y="1620000"/>
            <a:ext cx="560100" cy="5601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1427800" y="1676000"/>
            <a:ext cx="447900" cy="447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1531400" y="1888800"/>
            <a:ext cx="61500" cy="1233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621000" y="1821600"/>
            <a:ext cx="61500" cy="190500"/>
          </a:xfrm>
          <a:prstGeom prst="rect">
            <a:avLst/>
          </a:prstGeom>
          <a:solidFill>
            <a:srgbClr val="F279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1710600" y="1754400"/>
            <a:ext cx="61500" cy="257700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61700" y="2247200"/>
            <a:ext cx="238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The Data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571700" y="2627200"/>
            <a:ext cx="22002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5580" lvl="0" marL="18288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1400"/>
              <a:buFont typeface="DM Sans Medium"/>
              <a:buChar char="●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45,000 Kaggle loan defaults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195580" lvl="0" marL="18288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6FA8DC"/>
              </a:buClr>
              <a:buSzPts val="1400"/>
              <a:buFont typeface="DM Sans Medium"/>
              <a:buChar char="●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12 features: 5 categorical + 7 numerical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3231900" y="1900000"/>
            <a:ext cx="2680200" cy="2199900"/>
          </a:xfrm>
          <a:prstGeom prst="roundRect">
            <a:avLst>
              <a:gd fmla="val 8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292000" y="1620000"/>
            <a:ext cx="560100" cy="5601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4348000" y="1676000"/>
            <a:ext cx="447900" cy="447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432000" y="1760000"/>
            <a:ext cx="279900" cy="279900"/>
          </a:xfrm>
          <a:prstGeom prst="ellipse">
            <a:avLst/>
          </a:prstGeom>
          <a:solidFill>
            <a:srgbClr val="142B4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476800" y="1804800"/>
            <a:ext cx="190500" cy="190500"/>
          </a:xfrm>
          <a:prstGeom prst="ellipse">
            <a:avLst/>
          </a:prstGeom>
          <a:solidFill>
            <a:srgbClr val="6FA8D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4527200" y="1855200"/>
            <a:ext cx="89700" cy="89700"/>
          </a:xfrm>
          <a:prstGeom prst="ellipse">
            <a:avLst/>
          </a:prstGeom>
          <a:solidFill>
            <a:srgbClr val="F2795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381900" y="2247200"/>
            <a:ext cx="238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The Task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3491900" y="2627200"/>
            <a:ext cx="22002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5580" lvl="0" marL="18288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1400"/>
              <a:buFont typeface="DM Sans Medium"/>
              <a:buChar char="●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Binary classification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195580" lvl="0" marL="18288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6FA8DC"/>
              </a:buClr>
              <a:buSzPts val="1400"/>
              <a:buFont typeface="DM Sans Medium"/>
              <a:buChar char="●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Predict loan_status: repaid (0) or defaulted (1)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152100" y="1900000"/>
            <a:ext cx="2680200" cy="2199900"/>
          </a:xfrm>
          <a:prstGeom prst="roundRect">
            <a:avLst>
              <a:gd fmla="val 8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7212200" y="1620000"/>
            <a:ext cx="560100" cy="5601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7268200" y="1676000"/>
            <a:ext cx="447900" cy="447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7363400" y="1771200"/>
            <a:ext cx="257700" cy="257700"/>
          </a:xfrm>
          <a:prstGeom prst="ellipse">
            <a:avLst/>
          </a:prstGeom>
          <a:solidFill>
            <a:srgbClr val="3FA0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6302100" y="2247200"/>
            <a:ext cx="238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The Constraint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6412100" y="2627200"/>
            <a:ext cx="22002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5580" lvl="0" marL="18288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1400"/>
              <a:buFont typeface="DM Sans Medium"/>
              <a:buChar char="●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Success is not accuracy alone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146050" lvl="0" marL="17145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EE3F4C"/>
              </a:buClr>
              <a:buSzPts val="1400"/>
              <a:buFont typeface="DM Sans Medium"/>
              <a:buChar char="▲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Balance FNR &amp; FPR disparity and stay fair across </a:t>
            </a:r>
            <a:r>
              <a:rPr b="1" lang="en">
                <a:solidFill>
                  <a:srgbClr val="2B2B2B"/>
                </a:solidFill>
                <a:latin typeface="DM Sans"/>
                <a:ea typeface="DM Sans"/>
                <a:cs typeface="DM Sans"/>
                <a:sym typeface="DM Sans"/>
              </a:rPr>
              <a:t>age &amp; income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5"/>
          <p:cNvSpPr txBox="1"/>
          <p:nvPr/>
        </p:nvSpPr>
        <p:spPr>
          <a:xfrm>
            <a:off x="311700" y="1080000"/>
            <a:ext cx="852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Banks use loan-default predictions to drive real approval decisions.</a:t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311700" y="1800000"/>
            <a:ext cx="4140300" cy="2307000"/>
          </a:xfrm>
          <a:prstGeom prst="roundRect">
            <a:avLst>
              <a:gd fmla="val 8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2101850" y="1520000"/>
            <a:ext cx="560100" cy="5601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2157850" y="1576000"/>
            <a:ext cx="447900" cy="447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2236250" y="1665600"/>
            <a:ext cx="291300" cy="262200"/>
          </a:xfrm>
          <a:prstGeom prst="triangle">
            <a:avLst>
              <a:gd fmla="val 50000" name="adj"/>
            </a:avLst>
          </a:prstGeom>
          <a:solidFill>
            <a:srgbClr val="EE3F4C"/>
          </a:solidFill>
          <a:ln>
            <a:noFill/>
          </a:ln>
        </p:spPr>
        <p:txBody>
          <a:bodyPr anchorCtr="0" anchor="ctr" bIns="23275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491700" y="2147200"/>
            <a:ext cx="37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The Bank's Risk — FNR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631700" y="2527200"/>
            <a:ext cx="3520200" cy="14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2405" lvl="0" marL="18288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1400"/>
              <a:buFont typeface="DM Sans Medium"/>
              <a:buChar char="●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Predicting “no default” for someone who defaults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192405" lvl="0" marL="18288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6FA8DC"/>
              </a:buClr>
              <a:buSzPts val="1400"/>
              <a:buFont typeface="DM Sans Medium"/>
              <a:buChar char="●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bank loses money on a missed defaulter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38125" lvl="0" marL="2286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EE3F4C"/>
              </a:buClr>
              <a:buSzPts val="1400"/>
              <a:buFont typeface="DM Sans Medium"/>
              <a:buChar char="▲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Directly drives lending losses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4692000" y="1800000"/>
            <a:ext cx="4140300" cy="2307000"/>
          </a:xfrm>
          <a:prstGeom prst="roundRect">
            <a:avLst>
              <a:gd fmla="val 8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482150" y="1520000"/>
            <a:ext cx="560100" cy="5601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538150" y="1576000"/>
            <a:ext cx="447900" cy="447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6650150" y="1710400"/>
            <a:ext cx="224100" cy="1791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9050">
            <a:solidFill>
              <a:srgbClr val="14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&lt;/&gt;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6778950" y="1816800"/>
            <a:ext cx="134400" cy="134400"/>
          </a:xfrm>
          <a:prstGeom prst="roundRect">
            <a:avLst>
              <a:gd fmla="val 30000" name="adj"/>
            </a:avLst>
          </a:prstGeom>
          <a:solidFill>
            <a:srgbClr val="F279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827334" y="1857120"/>
            <a:ext cx="37500" cy="3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872000" y="2147200"/>
            <a:ext cx="37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The Client's Risk — FPR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012000" y="2527200"/>
            <a:ext cx="35202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2405" lvl="0" marL="18288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1400"/>
              <a:buFont typeface="DM Sans Medium"/>
              <a:buChar char="●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Predicting “default” for someone who would repay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192405" lvl="0" marL="18288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6FA8DC"/>
              </a:buClr>
              <a:buSzPts val="1400"/>
              <a:buFont typeface="DM Sans Medium"/>
              <a:buChar char="●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client is unfairly denied a loan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38125" lvl="0" marL="2286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EE3F4C"/>
              </a:buClr>
              <a:buSzPts val="1400"/>
              <a:buFont typeface="DM Sans Medium"/>
              <a:buChar char="▲"/>
            </a:pPr>
            <a:r>
              <a:rPr lang="en">
                <a:solidFill>
                  <a:srgbClr val="2B2B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Erodes trust in the model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311700" y="4216949"/>
            <a:ext cx="8520600" cy="6813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11700" y="4276958"/>
            <a:ext cx="81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2B4B"/>
                </a:solidFill>
                <a:latin typeface="DM Sans"/>
                <a:ea typeface="DM Sans"/>
                <a:cs typeface="DM Sans"/>
                <a:sym typeface="DM Sans"/>
              </a:rPr>
              <a:t>How we act on it:</a:t>
            </a:r>
            <a:r>
              <a:rPr lang="en">
                <a:solidFill>
                  <a:srgbClr val="142B4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>
                <a:solidFill>
                  <a:srgbClr val="2B2B2B"/>
                </a:solidFill>
                <a:latin typeface="DM Sans"/>
                <a:ea typeface="DM Sans"/>
                <a:cs typeface="DM Sans"/>
                <a:sym typeface="DM Sans"/>
              </a:rPr>
              <a:t>Fairlearn </a:t>
            </a:r>
            <a:r>
              <a:rPr lang="en">
                <a:solidFill>
                  <a:srgbClr val="2B2B2B"/>
                </a:solidFill>
                <a:latin typeface="DM Sans"/>
                <a:ea typeface="DM Sans"/>
                <a:cs typeface="DM Sans"/>
                <a:sym typeface="DM Sans"/>
              </a:rPr>
              <a:t>constrains</a:t>
            </a:r>
            <a:r>
              <a:rPr lang="en">
                <a:solidFill>
                  <a:srgbClr val="2B2B2B"/>
                </a:solidFill>
                <a:latin typeface="DM Sans"/>
                <a:ea typeface="DM Sans"/>
                <a:cs typeface="DM Sans"/>
                <a:sym typeface="DM Sans"/>
              </a:rPr>
              <a:t> models to perform equally across </a:t>
            </a:r>
            <a:r>
              <a:rPr b="1" lang="en">
                <a:solidFill>
                  <a:srgbClr val="2B2B2B"/>
                </a:solidFill>
                <a:latin typeface="DM Sans"/>
                <a:ea typeface="DM Sans"/>
                <a:cs typeface="DM Sans"/>
                <a:sym typeface="DM Sans"/>
              </a:rPr>
              <a:t>age &amp; income</a:t>
            </a:r>
            <a:r>
              <a:rPr lang="en">
                <a:solidFill>
                  <a:srgbClr val="2B2B2B"/>
                </a:solidFill>
                <a:latin typeface="DM Sans"/>
                <a:ea typeface="DM Sans"/>
                <a:cs typeface="DM Sans"/>
                <a:sym typeface="DM Sans"/>
              </a:rPr>
              <a:t> groups through weighting </a:t>
            </a:r>
            <a:r>
              <a:rPr lang="en">
                <a:solidFill>
                  <a:srgbClr val="2B2B2B"/>
                </a:solidFill>
                <a:latin typeface="DM Sans"/>
                <a:ea typeface="DM Sans"/>
                <a:cs typeface="DM Sans"/>
                <a:sym typeface="DM Sans"/>
              </a:rPr>
              <a:t>client harm vs. bank harm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Pipeline Overview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6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6"/>
          <p:cNvSpPr/>
          <p:nvPr/>
        </p:nvSpPr>
        <p:spPr>
          <a:xfrm>
            <a:off x="1029275" y="1290469"/>
            <a:ext cx="500100" cy="5001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079275" y="1340469"/>
            <a:ext cx="399900" cy="399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171775" y="1530469"/>
            <a:ext cx="54900" cy="1101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251775" y="1470469"/>
            <a:ext cx="54900" cy="170100"/>
          </a:xfrm>
          <a:prstGeom prst="rect">
            <a:avLst/>
          </a:prstGeom>
          <a:solidFill>
            <a:srgbClr val="F279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1331775" y="1410469"/>
            <a:ext cx="54900" cy="230100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11700" y="1850469"/>
            <a:ext cx="1935300" cy="1220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6B7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45k loan applications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2246850" y="2370469"/>
            <a:ext cx="2601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9B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3224425" y="1290469"/>
            <a:ext cx="500100" cy="5001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274425" y="1340469"/>
            <a:ext cx="399900" cy="399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374425" y="1460469"/>
            <a:ext cx="200100" cy="1599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9050">
            <a:solidFill>
              <a:srgbClr val="14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&lt;/&gt;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3489425" y="1555469"/>
            <a:ext cx="120000" cy="120000"/>
          </a:xfrm>
          <a:prstGeom prst="roundRect">
            <a:avLst>
              <a:gd fmla="val 30000" name="adj"/>
            </a:avLst>
          </a:prstGeom>
          <a:solidFill>
            <a:srgbClr val="F279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532625" y="1591469"/>
            <a:ext cx="33600" cy="33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2506850" y="1850469"/>
            <a:ext cx="1935300" cy="1220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2E9B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 + SMOTE + QELM features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442000" y="2370469"/>
            <a:ext cx="2601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419575" y="1290469"/>
            <a:ext cx="500100" cy="5001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469575" y="1340469"/>
            <a:ext cx="399900" cy="399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544575" y="1415469"/>
            <a:ext cx="249900" cy="249900"/>
          </a:xfrm>
          <a:prstGeom prst="ellipse">
            <a:avLst/>
          </a:prstGeom>
          <a:solidFill>
            <a:srgbClr val="142B4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584575" y="1455469"/>
            <a:ext cx="170100" cy="170100"/>
          </a:xfrm>
          <a:prstGeom prst="ellipse">
            <a:avLst/>
          </a:prstGeom>
          <a:solidFill>
            <a:srgbClr val="6FA8D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629575" y="1500469"/>
            <a:ext cx="80100" cy="80100"/>
          </a:xfrm>
          <a:prstGeom prst="ellipse">
            <a:avLst/>
          </a:prstGeom>
          <a:solidFill>
            <a:srgbClr val="F2795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702000" y="1850469"/>
            <a:ext cx="1935300" cy="1220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 &amp; Neural Network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6637150" y="2370469"/>
            <a:ext cx="2601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FA0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614725" y="1290469"/>
            <a:ext cx="500100" cy="5001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664725" y="1340469"/>
            <a:ext cx="399900" cy="399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7749725" y="1425469"/>
            <a:ext cx="230100" cy="230100"/>
          </a:xfrm>
          <a:prstGeom prst="ellipse">
            <a:avLst/>
          </a:prstGeom>
          <a:solidFill>
            <a:srgbClr val="3FA0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6897150" y="1850469"/>
            <a:ext cx="2034000" cy="1220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rgbClr val="3FA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Fairness Layer</a:t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Max-Min Disparity ≤ 5%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FPR/FNR (age &amp; income)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11700" y="3200000"/>
            <a:ext cx="4140300" cy="1160100"/>
          </a:xfrm>
          <a:prstGeom prst="roundRect">
            <a:avLst>
              <a:gd fmla="val 8000" name="adj"/>
            </a:avLst>
          </a:prstGeom>
          <a:solidFill>
            <a:srgbClr val="CFE2F3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31700" y="3320000"/>
            <a:ext cx="37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XGBoost — 7 variants</a:t>
            </a:r>
            <a:endParaRPr sz="1800"/>
          </a:p>
        </p:txBody>
      </p:sp>
      <p:sp>
        <p:nvSpPr>
          <p:cNvPr id="140" name="Google Shape;140;p16"/>
          <p:cNvSpPr/>
          <p:nvPr/>
        </p:nvSpPr>
        <p:spPr>
          <a:xfrm>
            <a:off x="531700" y="3660000"/>
            <a:ext cx="1800300" cy="279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3FA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0000" spcFirstLastPara="1" rIns="400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Baseline  </a:t>
            </a:r>
            <a:r>
              <a:rPr b="1" lang="en">
                <a:solidFill>
                  <a:srgbClr val="3FA05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2431850" y="3660000"/>
            <a:ext cx="1800300" cy="279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3FA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0000" spcFirstLastPara="1" rIns="400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SMOTE  </a:t>
            </a:r>
            <a:r>
              <a:rPr b="1" lang="en">
                <a:solidFill>
                  <a:srgbClr val="3FA05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31700" y="4030000"/>
            <a:ext cx="1800300" cy="279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9A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0000" spcFirstLastPara="1" rIns="400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Weighted  </a:t>
            </a:r>
            <a:r>
              <a:rPr b="1" lang="en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2431850" y="4030000"/>
            <a:ext cx="1800300" cy="279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3FA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0000" spcFirstLastPara="1" rIns="400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QELM+SMOTE  </a:t>
            </a:r>
            <a:r>
              <a:rPr b="1" lang="en">
                <a:solidFill>
                  <a:srgbClr val="3FA05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4692000" y="3200000"/>
            <a:ext cx="4239300" cy="1160100"/>
          </a:xfrm>
          <a:prstGeom prst="roundRect">
            <a:avLst>
              <a:gd fmla="val 8000" name="adj"/>
            </a:avLst>
          </a:prstGeom>
          <a:solidFill>
            <a:srgbClr val="CFE2F3"/>
          </a:solidFill>
          <a:ln cap="flat" cmpd="sng" w="12700">
            <a:solidFill>
              <a:srgbClr val="3FA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4912000" y="3320000"/>
            <a:ext cx="37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Neural Network — 6 variants</a:t>
            </a:r>
            <a:endParaRPr sz="1800"/>
          </a:p>
        </p:txBody>
      </p:sp>
      <p:sp>
        <p:nvSpPr>
          <p:cNvPr id="146" name="Google Shape;146;p16"/>
          <p:cNvSpPr/>
          <p:nvPr/>
        </p:nvSpPr>
        <p:spPr>
          <a:xfrm>
            <a:off x="4912000" y="3660000"/>
            <a:ext cx="1166700" cy="279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3FA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0000" spcFirstLastPara="1" rIns="400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Baseline  </a:t>
            </a:r>
            <a:r>
              <a:rPr b="1" lang="en">
                <a:solidFill>
                  <a:srgbClr val="3FA05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6178766" y="3660000"/>
            <a:ext cx="1166700" cy="279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3FA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0000" spcFirstLastPara="1" rIns="400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SMOTE  </a:t>
            </a:r>
            <a:r>
              <a:rPr b="1" lang="en">
                <a:solidFill>
                  <a:srgbClr val="3FA05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7445525" y="3660000"/>
            <a:ext cx="1386900" cy="279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3FA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0000" spcFirstLastPara="1" rIns="400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QELM+SMOTE </a:t>
            </a:r>
            <a:r>
              <a:rPr b="1" lang="en">
                <a:solidFill>
                  <a:srgbClr val="3FA05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311700" y="4440000"/>
            <a:ext cx="852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13 experiments, same test set, each tuned via 5-fold RandomizedSearchCV (40 iterations XGBoost, 20 NN).                    </a:t>
            </a: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✓ = Fairlearn-wrapped, — = standalone.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Effect of SMOTE on Categorical Features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7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17"/>
          <p:cNvSpPr txBox="1"/>
          <p:nvPr/>
        </p:nvSpPr>
        <p:spPr>
          <a:xfrm>
            <a:off x="311700" y="1080000"/>
            <a:ext cx="852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What is SMOTE? </a:t>
            </a: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or each minority</a:t>
            </a: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class </a:t>
            </a: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sample</a:t>
            </a:r>
            <a:r>
              <a:rPr b="0"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SMOTE </a:t>
            </a:r>
            <a:r>
              <a:rPr b="0"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finds nearby minority</a:t>
            </a: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class neighbors and generates new synthetic rows along the line between them, instead of duplicating rows or discarding data.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2504" y="1653341"/>
            <a:ext cx="6558991" cy="115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292504" y="2824263"/>
            <a:ext cx="655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Before SMOTE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2504" y="3117094"/>
            <a:ext cx="6558991" cy="117419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292504" y="4310808"/>
            <a:ext cx="655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After SMOTE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11700" y="4576923"/>
            <a:ext cx="852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“Previous loan defaults on file” was dropped</a:t>
            </a:r>
            <a:r>
              <a:rPr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, meaning </a:t>
            </a: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 every defaulting sample had no prior flag, a leakage risk SMOTE would have amplified.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Effect of SMOTE on Numerical Features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8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18"/>
          <p:cNvSpPr txBox="1"/>
          <p:nvPr/>
        </p:nvSpPr>
        <p:spPr>
          <a:xfrm>
            <a:off x="311700" y="1080000"/>
            <a:ext cx="852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Why the numbers barely move: </a:t>
            </a:r>
            <a:r>
              <a:rPr b="0"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synthetic points are interpolated between real neighbors, not randomly generated</a:t>
            </a:r>
            <a:r>
              <a:rPr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lang="en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so SMOTE reshapes class balance, not the underlying feature distributions.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642090"/>
            <a:ext cx="5300001" cy="275840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71700" y="1704550"/>
            <a:ext cx="300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2B4B"/>
                </a:solidFill>
                <a:latin typeface="Calibri"/>
                <a:ea typeface="Calibri"/>
                <a:cs typeface="Calibri"/>
                <a:sym typeface="Calibri"/>
              </a:rPr>
              <a:t>But model performance still shifts (F1)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871700" y="2234794"/>
            <a:ext cx="687600" cy="5994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831700" y="2052635"/>
            <a:ext cx="767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0.781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831700" y="2854749"/>
            <a:ext cx="76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XGB</a:t>
            </a:r>
            <a:b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6629350" y="2209954"/>
            <a:ext cx="687600" cy="624000"/>
          </a:xfrm>
          <a:prstGeom prst="rect">
            <a:avLst/>
          </a:prstGeom>
          <a:solidFill>
            <a:srgbClr val="3FA0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589350" y="2027795"/>
            <a:ext cx="767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0.788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589350" y="2854749"/>
            <a:ext cx="76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XGB</a:t>
            </a:r>
            <a:b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7387000" y="2408673"/>
            <a:ext cx="687600" cy="4254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347000" y="2226514"/>
            <a:ext cx="767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0.728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347000" y="2854749"/>
            <a:ext cx="76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NN</a:t>
            </a:r>
            <a:b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8144650" y="2568641"/>
            <a:ext cx="687600" cy="265500"/>
          </a:xfrm>
          <a:prstGeom prst="rect">
            <a:avLst/>
          </a:prstGeom>
          <a:solidFill>
            <a:srgbClr val="EE3F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8104650" y="2386482"/>
            <a:ext cx="767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0.680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104650" y="2854749"/>
            <a:ext cx="76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NN</a:t>
            </a:r>
            <a:b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871700" y="3357218"/>
            <a:ext cx="296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Helps XGBoost, hurts Neural Network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311700" y="4462952"/>
            <a:ext cx="530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Age, income, credit score, and other numerical features stay nearly identical pre/post-SMOTE.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Quantum feature engineering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>
            <p:ph idx="1" type="body"/>
          </p:nvPr>
        </p:nvSpPr>
        <p:spPr>
          <a:xfrm>
            <a:off x="311700" y="3177125"/>
            <a:ext cx="79263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Categorical and numerical f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eatures are encoded as angles.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Rotation and entanglement in quantum circuit reveals correlations between features.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For 12 qubits (12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) quantum states exist in 2</a:t>
            </a:r>
            <a:r>
              <a:rPr baseline="30000" lang="en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= 4096 dimensions.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At output, quantum states collapse to classical bits according to a probability distribution.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Observables (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expectation values)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create 78 quantum features.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18" y="1152475"/>
            <a:ext cx="6632450" cy="18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6998875" y="1106250"/>
            <a:ext cx="2170800" cy="1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QELM:</a:t>
            </a:r>
            <a:br>
              <a:rPr b="1" lang="en" sz="1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Quantum Extreme Learning Machine</a:t>
            </a:r>
            <a:endParaRPr b="1" sz="1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3" name="Google Shape;193;p19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One-slide q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uantum primer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Computational basis states for 1 qubit: |0⟩ and |1⟩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3-qubit q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uantum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state  in superposition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When measured, a quantum state collapses to classical bits.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Probability of measuring 000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is 0.7 and probability of measuring 110 is 0.3 (Born’s rule).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Observable detects patterns of qubits and interactions between qubits:                                                                                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Probabilities determine expected values of observables.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32" y="3507875"/>
            <a:ext cx="4221658" cy="37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7425" y="1604423"/>
            <a:ext cx="3399700" cy="370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0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XGBoost, AdaBoost, and Gradient Boost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470B4"/>
                </a:solidFill>
                <a:latin typeface="Calibri"/>
                <a:ea typeface="Calibri"/>
                <a:cs typeface="Calibri"/>
                <a:sym typeface="Calibri"/>
              </a:rPr>
              <a:t>Comparison of AdaBoost and Gradient Boosting:</a:t>
            </a:r>
            <a:endParaRPr b="1">
              <a:solidFill>
                <a:srgbClr val="3470B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power sequential </a:t>
            </a: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ensemble techniques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focuses on current ensemble’s </a:t>
            </a: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misclassified examples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AdaBoost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changes the </a:t>
            </a:r>
            <a:r>
              <a:rPr lang="en">
                <a:solidFill>
                  <a:srgbClr val="00965A"/>
                </a:solidFill>
                <a:latin typeface="Calibri"/>
                <a:ea typeface="Calibri"/>
                <a:cs typeface="Calibri"/>
                <a:sym typeface="Calibri"/>
              </a:rPr>
              <a:t>sample weights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the next learner</a:t>
            </a:r>
            <a:endParaRPr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Gradient Boost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calculates the </a:t>
            </a:r>
            <a:r>
              <a:rPr lang="en">
                <a:solidFill>
                  <a:srgbClr val="00965A"/>
                </a:solidFill>
                <a:latin typeface="Calibri"/>
                <a:ea typeface="Calibri"/>
                <a:cs typeface="Calibri"/>
                <a:sym typeface="Calibri"/>
              </a:rPr>
              <a:t>negative gradient of loss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the next learner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negative gradient of loss value for each example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—&gt; the responses for the next learner (</a:t>
            </a:r>
            <a:r>
              <a:rPr lang="en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residual learning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&lt;math-flow&gt;{&quot;id&quot;:&quot;d2df159c-babc-4af5-8c3e-c3500ebe9100&quot;,&quot;latex&quot;:&quot;\\[\n-\\frac{\\partial L_{i}}{\\partial F_{i}}=\\text{pseudo-residual}_{i}=y_{i}-p_{i},\\text{where }p_{i}=P(Y_{i}=1\\mid\\mathbf{x}_{i})=\\sigma(F_{i}).\n\\]&quot;,&quot;action&quot;:&quot;insert&quot;,&quot;timestamp&quot;:1784919383251,&quot;scale&quot;:1,&quot;bgColor&quot;:&quot;transparent&quot;,&quot;version&quot;:2}&lt;/math-flow&gt;"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175" y="3720109"/>
            <a:ext cx="55816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-flow&gt;{&quot;id&quot;:&quot;c33327ee-4c73-4234-824c-db3c947b4906&quot;,&quot;latex&quot;:&quot;\\[\n\\text{Target for the next learner:}\\qquad y_{i}\\;\\longrightarrow{\\;}r_{i}^{(m)}=y_{i}-p_{i}^{(m-1)},\n\\]&quot;,&quot;action&quot;:&quot;insert&quot;,&quot;timestamp&quot;:1784919479283,&quot;scale&quot;:1,&quot;bgColor&quot;:&quot;transparent&quot;,&quot;version&quot;:2}&lt;/math-flow&gt;" id="210" name="Google Shape;2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6475" y="4252971"/>
            <a:ext cx="4591050" cy="285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21"/>
          <p:cNvCxnSpPr/>
          <p:nvPr/>
        </p:nvCxnSpPr>
        <p:spPr>
          <a:xfrm flipH="1" rot="10800000">
            <a:off x="369600" y="1017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XGBoost Algorithm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311713" y="1017725"/>
            <a:ext cx="4364100" cy="33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3470B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The next learner uses both </a:t>
            </a:r>
            <a:r>
              <a:rPr lang="en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radient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hessian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information of each example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Think of XGB as a Newton-Style </a:t>
            </a:r>
            <a:r>
              <a:rPr lang="en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second order correction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on top of the Gradient Boosting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&lt;math-flow&gt;{&quot;id&quot;:&quot;94875434-4046-4ce0-bd7f-6b3ef1d3a6ca&quot;,&quot;latex&quot;:&quot;\\[\n\\begin{aligned}g_{i} &amp; =\\frac{\\partial L_{i}}{\\partial F_{i}}=p_{i}-y_{i},\\\\[6 pt] h_{i} &amp; =\\frac{\\partial^2L_{i}}{\\partial F_{i}^2}=p_{i}(1-p_{i}).\\end{aligned}\n\\]&quot;,&quot;action&quot;:&quot;insert&quot;,&quot;timestamp&quot;:1784920778010,&quot;scale&quot;:1,&quot;bgColor&quot;:&quot;transparent&quot;,&quot;version&quot;:2}&lt;/math-flow&gt;" id="218" name="Google Shape;2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225" y="2206075"/>
            <a:ext cx="1779075" cy="10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-flow&gt;{&quot;id&quot;:&quot;3aba4827-d98f-422c-b53c-981999951f87&quot;,&quot;latex&quot;:&quot;\\[\n\\begin{aligned}\\text{Gradient Boosting:}\\qquad L_{i}^{(m)} &amp; \\approx L_{i}^{(m-1)}+g_{i}f_{m}(x_{i}),\\\\[6 pt] \\text{XGBoost:}\\qquad L_{i}^{(m)} &amp; \\approx L_{i}^{(m-1)}+g_{i}f_{m}(x_{i})+\\frac12h_{i}\\left[f_{m}(x_{i})\\right]^2.\\end{aligned}\n\\]&quot;,&quot;action&quot;:&quot;insert&quot;,&quot;timestamp&quot;:1784921670478,&quot;scale&quot;:1,&quot;bgColor&quot;:&quot;transparent&quot;,&quot;version&quot;:2}&lt;/math-flow&gt;" id="219" name="Google Shape;2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326" y="4218125"/>
            <a:ext cx="4798250" cy="761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22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1" name="Google Shape;22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5800" y="1759625"/>
            <a:ext cx="4364100" cy="276734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>
            <p:ph type="title"/>
          </p:nvPr>
        </p:nvSpPr>
        <p:spPr>
          <a:xfrm>
            <a:off x="311700" y="11869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3470B4"/>
                </a:solidFill>
                <a:latin typeface="Calibri"/>
                <a:ea typeface="Calibri"/>
                <a:cs typeface="Calibri"/>
                <a:sym typeface="Calibri"/>
              </a:rPr>
              <a:t>XGBoost is an optimized implementation and extension of Gradient Boost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Neural Network model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11700" y="1106800"/>
            <a:ext cx="6212100" cy="15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3470B4"/>
                </a:solidFill>
                <a:latin typeface="Calibri"/>
                <a:ea typeface="Calibri"/>
                <a:cs typeface="Calibri"/>
                <a:sym typeface="Calibri"/>
              </a:rPr>
              <a:t>Model setup</a:t>
            </a:r>
            <a:endParaRPr b="1" sz="1900">
              <a:solidFill>
                <a:srgbClr val="3470B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spcBef>
                <a:spcPts val="200"/>
              </a:spcBef>
              <a:spcAft>
                <a:spcPts val="0"/>
              </a:spcAft>
              <a:buClr>
                <a:srgbClr val="232E43"/>
              </a:buClr>
              <a:buSzPts val="1450"/>
              <a:buFont typeface="Calibri"/>
              <a:buChar char="●"/>
            </a:pPr>
            <a:r>
              <a:rPr lang="en" sz="1450">
                <a:solidFill>
                  <a:srgbClr val="232E43"/>
                </a:solidFill>
                <a:latin typeface="Calibri"/>
                <a:ea typeface="Calibri"/>
                <a:cs typeface="Calibri"/>
                <a:sym typeface="Calibri"/>
              </a:rPr>
              <a:t>Feed-forward Multilayer Perceptron</a:t>
            </a:r>
            <a:endParaRPr sz="1450">
              <a:solidFill>
                <a:srgbClr val="232E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232E43"/>
              </a:buClr>
              <a:buSzPts val="1450"/>
              <a:buFont typeface="Calibri"/>
              <a:buChar char="●"/>
            </a:pPr>
            <a:r>
              <a:rPr lang="en" sz="1450">
                <a:solidFill>
                  <a:srgbClr val="232E43"/>
                </a:solidFill>
                <a:latin typeface="Calibri"/>
                <a:ea typeface="Calibri"/>
                <a:cs typeface="Calibri"/>
                <a:sym typeface="Calibri"/>
              </a:rPr>
              <a:t>Numeric features standardized; Categorical features one-hot encoded</a:t>
            </a:r>
            <a:endParaRPr sz="1450">
              <a:solidFill>
                <a:srgbClr val="232E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232E43"/>
              </a:buClr>
              <a:buSzPts val="1450"/>
              <a:buFont typeface="Calibri"/>
              <a:buChar char="●"/>
            </a:pPr>
            <a:r>
              <a:rPr lang="en" sz="1450">
                <a:solidFill>
                  <a:srgbClr val="232E43"/>
                </a:solidFill>
                <a:latin typeface="Calibri"/>
                <a:ea typeface="Calibri"/>
                <a:cs typeface="Calibri"/>
                <a:sym typeface="Calibri"/>
              </a:rPr>
              <a:t>Early stopping to reduce overfitting</a:t>
            </a:r>
            <a:endParaRPr b="1" sz="2000">
              <a:solidFill>
                <a:srgbClr val="0096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23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23"/>
          <p:cNvSpPr txBox="1"/>
          <p:nvPr/>
        </p:nvSpPr>
        <p:spPr>
          <a:xfrm>
            <a:off x="311697" y="2571744"/>
            <a:ext cx="41685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50" lIns="86250" spcFirstLastPara="1" rIns="86250" wrap="square" tIns="862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3470B4"/>
                </a:solidFill>
                <a:latin typeface="Calibri"/>
                <a:ea typeface="Calibri"/>
                <a:cs typeface="Calibri"/>
                <a:sym typeface="Calibri"/>
              </a:rPr>
              <a:t>Selected baseline architecture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5" y="4016346"/>
            <a:ext cx="4168449" cy="76378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415450" y="2936831"/>
            <a:ext cx="4168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rgbClr val="232E43"/>
                </a:solidFill>
                <a:latin typeface="Calibri"/>
                <a:ea typeface="Calibri"/>
                <a:cs typeface="Calibri"/>
                <a:sym typeface="Calibri"/>
              </a:rPr>
              <a:t>Two hidden layers: </a:t>
            </a:r>
            <a:r>
              <a:rPr lang="en" sz="1450">
                <a:solidFill>
                  <a:srgbClr val="232E43"/>
                </a:solidFill>
                <a:latin typeface="Calibri"/>
                <a:ea typeface="Calibri"/>
                <a:cs typeface="Calibri"/>
                <a:sym typeface="Calibri"/>
              </a:rPr>
              <a:t>128 → 64</a:t>
            </a:r>
            <a:endParaRPr sz="1450">
              <a:solidFill>
                <a:srgbClr val="232E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rgbClr val="232E43"/>
                </a:solidFill>
                <a:latin typeface="Calibri"/>
                <a:ea typeface="Calibri"/>
                <a:cs typeface="Calibri"/>
                <a:sym typeface="Calibri"/>
              </a:rPr>
              <a:t>tanh activation, Adam optimizer</a:t>
            </a:r>
            <a:endParaRPr sz="1450">
              <a:solidFill>
                <a:srgbClr val="232E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1450">
                <a:solidFill>
                  <a:srgbClr val="232E43"/>
                </a:solidFill>
                <a:latin typeface="Calibri"/>
                <a:ea typeface="Calibri"/>
                <a:cs typeface="Calibri"/>
                <a:sym typeface="Calibri"/>
              </a:rPr>
              <a:t>Compared baseline, SMOTE, and QELM variants</a:t>
            </a:r>
            <a:endParaRPr sz="1450">
              <a:solidFill>
                <a:srgbClr val="232E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0200" y="2458225"/>
            <a:ext cx="4292625" cy="232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 txBox="1"/>
          <p:nvPr>
            <p:ph idx="1" type="body"/>
          </p:nvPr>
        </p:nvSpPr>
        <p:spPr>
          <a:xfrm>
            <a:off x="5593800" y="1370225"/>
            <a:ext cx="3427800" cy="28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Main findings</a:t>
            </a:r>
            <a:endParaRPr b="1" sz="19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XGBoost remains the strongest overall baseline: about 91% accuracy.</a:t>
            </a:r>
            <a:endParaRPr sz="14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Weighted XGBoost reduces FNR, but raises FPR.</a:t>
            </a:r>
            <a:endParaRPr sz="14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SMOTE NN lowers FNR, but FPR rises sharply.</a:t>
            </a:r>
            <a:endParaRPr sz="14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QELM is competitive, but does not beat baseline/SMOTE.</a:t>
            </a:r>
            <a:endParaRPr sz="14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The final choice depends on the cost of bank risk vs. borrower risk.</a:t>
            </a:r>
            <a:endParaRPr sz="1400">
              <a:solidFill>
                <a:srgbClr val="1E1E1E"/>
              </a:solidFill>
              <a:highlight>
                <a:schemeClr val="accent6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24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1" name="Google Shape;2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0" y="1370225"/>
            <a:ext cx="5474701" cy="32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Fairlearn-Constrained Debiasing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25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8" name="Google Shape;2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2300" y="127650"/>
            <a:ext cx="3081200" cy="966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5"/>
          <p:cNvGrpSpPr/>
          <p:nvPr/>
        </p:nvGrpSpPr>
        <p:grpSpPr>
          <a:xfrm>
            <a:off x="415441" y="1359492"/>
            <a:ext cx="2170859" cy="3439875"/>
            <a:chOff x="668766" y="1332492"/>
            <a:chExt cx="2170859" cy="3439875"/>
          </a:xfrm>
        </p:grpSpPr>
        <p:sp>
          <p:nvSpPr>
            <p:cNvPr id="250" name="Google Shape;250;p25"/>
            <p:cNvSpPr/>
            <p:nvPr/>
          </p:nvSpPr>
          <p:spPr>
            <a:xfrm>
              <a:off x="668766" y="1766667"/>
              <a:ext cx="2170800" cy="3005700"/>
            </a:xfrm>
            <a:prstGeom prst="roundRect">
              <a:avLst>
                <a:gd fmla="val 8137" name="adj"/>
              </a:avLst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1" name="Google Shape;251;p25"/>
            <p:cNvGrpSpPr/>
            <p:nvPr/>
          </p:nvGrpSpPr>
          <p:grpSpPr>
            <a:xfrm>
              <a:off x="1159875" y="1332492"/>
              <a:ext cx="1188600" cy="1188600"/>
              <a:chOff x="1159875" y="1222717"/>
              <a:chExt cx="1188600" cy="1188600"/>
            </a:xfrm>
          </p:grpSpPr>
          <p:sp>
            <p:nvSpPr>
              <p:cNvPr id="252" name="Google Shape;252;p25"/>
              <p:cNvSpPr/>
              <p:nvPr/>
            </p:nvSpPr>
            <p:spPr>
              <a:xfrm>
                <a:off x="1159875" y="1222717"/>
                <a:ext cx="1188600" cy="1188600"/>
              </a:xfrm>
              <a:prstGeom prst="ellipse">
                <a:avLst/>
              </a:prstGeom>
              <a:solidFill>
                <a:srgbClr val="6FA8DC"/>
              </a:solidFill>
              <a:ln>
                <a:noFill/>
              </a:ln>
            </p:spPr>
            <p:txBody>
              <a:bodyPr anchorCtr="0" anchor="ctr" bIns="60200" lIns="60200" spcFirstLastPara="1" rIns="60200" wrap="square" tIns="60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22"/>
              </a:p>
            </p:txBody>
          </p:sp>
          <p:sp>
            <p:nvSpPr>
              <p:cNvPr id="253" name="Google Shape;253;p25"/>
              <p:cNvSpPr/>
              <p:nvPr/>
            </p:nvSpPr>
            <p:spPr>
              <a:xfrm>
                <a:off x="1251225" y="1314067"/>
                <a:ext cx="1005900" cy="1005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60200" lIns="60200" spcFirstLastPara="1" rIns="60200" wrap="square" tIns="60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22"/>
              </a:p>
            </p:txBody>
          </p:sp>
          <p:sp>
            <p:nvSpPr>
              <p:cNvPr id="254" name="Google Shape;254;p25"/>
              <p:cNvSpPr/>
              <p:nvPr/>
            </p:nvSpPr>
            <p:spPr>
              <a:xfrm>
                <a:off x="1296975" y="1359817"/>
                <a:ext cx="914400" cy="914400"/>
              </a:xfrm>
              <a:prstGeom prst="ellipse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60200" lIns="60200" spcFirstLastPara="1" rIns="60200" wrap="square" tIns="60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22"/>
              </a:p>
            </p:txBody>
          </p:sp>
        </p:grpSp>
        <p:pic>
          <p:nvPicPr>
            <p:cNvPr id="255" name="Google Shape;255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72731" y="1636950"/>
              <a:ext cx="731700" cy="73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5"/>
            <p:cNvSpPr txBox="1"/>
            <p:nvPr/>
          </p:nvSpPr>
          <p:spPr>
            <a:xfrm>
              <a:off x="752525" y="2644775"/>
              <a:ext cx="2087100" cy="18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262636" lvl="0" marL="228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Char char="●"/>
              </a:pPr>
              <a:r>
                <a:rPr lang="en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Open-source</a:t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62636" lvl="0" marL="228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Char char="●"/>
              </a:pPr>
              <a:r>
                <a:rPr lang="en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Identify &amp; mitigate biases in models</a:t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62636" lvl="0" marL="228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Char char="●"/>
              </a:pPr>
              <a:r>
                <a:rPr lang="en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Constraint models to perform equally well across groups</a:t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57" name="Google Shape;257;p25"/>
          <p:cNvGrpSpPr/>
          <p:nvPr/>
        </p:nvGrpSpPr>
        <p:grpSpPr>
          <a:xfrm>
            <a:off x="2791880" y="1359492"/>
            <a:ext cx="2170871" cy="3439875"/>
            <a:chOff x="3045205" y="1332492"/>
            <a:chExt cx="2170871" cy="3439875"/>
          </a:xfrm>
        </p:grpSpPr>
        <p:grpSp>
          <p:nvGrpSpPr>
            <p:cNvPr id="258" name="Google Shape;258;p25"/>
            <p:cNvGrpSpPr/>
            <p:nvPr/>
          </p:nvGrpSpPr>
          <p:grpSpPr>
            <a:xfrm>
              <a:off x="3045205" y="1332492"/>
              <a:ext cx="2170871" cy="3439875"/>
              <a:chOff x="668766" y="1332492"/>
              <a:chExt cx="2170871" cy="3439875"/>
            </a:xfrm>
          </p:grpSpPr>
          <p:sp>
            <p:nvSpPr>
              <p:cNvPr id="259" name="Google Shape;259;p25"/>
              <p:cNvSpPr/>
              <p:nvPr/>
            </p:nvSpPr>
            <p:spPr>
              <a:xfrm>
                <a:off x="668766" y="1766667"/>
                <a:ext cx="2170800" cy="3005700"/>
              </a:xfrm>
              <a:prstGeom prst="roundRect">
                <a:avLst>
                  <a:gd fmla="val 8137" name="adj"/>
                </a:avLst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0" name="Google Shape;260;p25"/>
              <p:cNvGrpSpPr/>
              <p:nvPr/>
            </p:nvGrpSpPr>
            <p:grpSpPr>
              <a:xfrm>
                <a:off x="1159875" y="1332492"/>
                <a:ext cx="1188600" cy="1188600"/>
                <a:chOff x="1159875" y="1222717"/>
                <a:chExt cx="1188600" cy="1188600"/>
              </a:xfrm>
            </p:grpSpPr>
            <p:sp>
              <p:nvSpPr>
                <p:cNvPr id="261" name="Google Shape;261;p25"/>
                <p:cNvSpPr/>
                <p:nvPr/>
              </p:nvSpPr>
              <p:spPr>
                <a:xfrm>
                  <a:off x="1159875" y="1222717"/>
                  <a:ext cx="1188600" cy="1188600"/>
                </a:xfrm>
                <a:prstGeom prst="ellipse">
                  <a:avLst/>
                </a:prstGeom>
                <a:solidFill>
                  <a:srgbClr val="6FA8DC"/>
                </a:solidFill>
                <a:ln>
                  <a:noFill/>
                </a:ln>
              </p:spPr>
              <p:txBody>
                <a:bodyPr anchorCtr="0" anchor="ctr" bIns="60200" lIns="60200" spcFirstLastPara="1" rIns="60200" wrap="square" tIns="60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22"/>
                </a:p>
              </p:txBody>
            </p:sp>
            <p:sp>
              <p:nvSpPr>
                <p:cNvPr id="262" name="Google Shape;262;p25"/>
                <p:cNvSpPr/>
                <p:nvPr/>
              </p:nvSpPr>
              <p:spPr>
                <a:xfrm>
                  <a:off x="1251225" y="1314067"/>
                  <a:ext cx="1005900" cy="10059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60200" lIns="60200" spcFirstLastPara="1" rIns="60200" wrap="square" tIns="60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22"/>
                </a:p>
              </p:txBody>
            </p:sp>
            <p:sp>
              <p:nvSpPr>
                <p:cNvPr id="263" name="Google Shape;263;p25"/>
                <p:cNvSpPr/>
                <p:nvPr/>
              </p:nvSpPr>
              <p:spPr>
                <a:xfrm>
                  <a:off x="1296975" y="1359817"/>
                  <a:ext cx="914400" cy="914400"/>
                </a:xfrm>
                <a:prstGeom prst="ellipse">
                  <a:avLst/>
                </a:prstGeom>
                <a:solidFill>
                  <a:srgbClr val="CFE2F3"/>
                </a:solidFill>
                <a:ln>
                  <a:noFill/>
                </a:ln>
              </p:spPr>
              <p:txBody>
                <a:bodyPr anchorCtr="0" anchor="ctr" bIns="60200" lIns="60200" spcFirstLastPara="1" rIns="60200" wrap="square" tIns="60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22"/>
                </a:p>
              </p:txBody>
            </p:sp>
          </p:grpSp>
          <p:sp>
            <p:nvSpPr>
              <p:cNvPr id="264" name="Google Shape;264;p25"/>
              <p:cNvSpPr txBox="1"/>
              <p:nvPr/>
            </p:nvSpPr>
            <p:spPr>
              <a:xfrm>
                <a:off x="752537" y="2644775"/>
                <a:ext cx="2087100" cy="181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-262636" lvl="0" marL="2286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Model bias</a:t>
                </a:r>
                <a:endParaRPr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-262636" lvl="0" marL="2286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If one group is more often misclassified</a:t>
                </a:r>
                <a:endParaRPr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-262636" lvl="0" marL="2286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Unable to reverse bias in data collection process</a:t>
                </a:r>
                <a:endParaRPr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pic>
          <p:nvPicPr>
            <p:cNvPr id="265" name="Google Shape;265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29804" y="1600583"/>
              <a:ext cx="691700" cy="691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6" name="Google Shape;26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1864" y="3567166"/>
            <a:ext cx="377400" cy="37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25"/>
          <p:cNvGrpSpPr/>
          <p:nvPr/>
        </p:nvGrpSpPr>
        <p:grpSpPr>
          <a:xfrm>
            <a:off x="5168289" y="1359492"/>
            <a:ext cx="2170861" cy="3439875"/>
            <a:chOff x="5421614" y="1332492"/>
            <a:chExt cx="2170861" cy="3439875"/>
          </a:xfrm>
        </p:grpSpPr>
        <p:grpSp>
          <p:nvGrpSpPr>
            <p:cNvPr id="268" name="Google Shape;268;p25"/>
            <p:cNvGrpSpPr/>
            <p:nvPr/>
          </p:nvGrpSpPr>
          <p:grpSpPr>
            <a:xfrm>
              <a:off x="5421614" y="1332492"/>
              <a:ext cx="2170861" cy="3439875"/>
              <a:chOff x="668766" y="1332492"/>
              <a:chExt cx="2170861" cy="3439875"/>
            </a:xfrm>
          </p:grpSpPr>
          <p:sp>
            <p:nvSpPr>
              <p:cNvPr id="269" name="Google Shape;269;p25"/>
              <p:cNvSpPr/>
              <p:nvPr/>
            </p:nvSpPr>
            <p:spPr>
              <a:xfrm>
                <a:off x="668766" y="1766667"/>
                <a:ext cx="2170800" cy="3005700"/>
              </a:xfrm>
              <a:prstGeom prst="roundRect">
                <a:avLst>
                  <a:gd fmla="val 8137" name="adj"/>
                </a:avLst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0" name="Google Shape;270;p25"/>
              <p:cNvGrpSpPr/>
              <p:nvPr/>
            </p:nvGrpSpPr>
            <p:grpSpPr>
              <a:xfrm>
                <a:off x="1159875" y="1332492"/>
                <a:ext cx="1188600" cy="1188600"/>
                <a:chOff x="1159875" y="1222717"/>
                <a:chExt cx="1188600" cy="1188600"/>
              </a:xfrm>
            </p:grpSpPr>
            <p:sp>
              <p:nvSpPr>
                <p:cNvPr id="271" name="Google Shape;271;p25"/>
                <p:cNvSpPr/>
                <p:nvPr/>
              </p:nvSpPr>
              <p:spPr>
                <a:xfrm>
                  <a:off x="1159875" y="1222717"/>
                  <a:ext cx="1188600" cy="1188600"/>
                </a:xfrm>
                <a:prstGeom prst="ellipse">
                  <a:avLst/>
                </a:prstGeom>
                <a:solidFill>
                  <a:srgbClr val="6FA8DC"/>
                </a:solidFill>
                <a:ln>
                  <a:noFill/>
                </a:ln>
              </p:spPr>
              <p:txBody>
                <a:bodyPr anchorCtr="0" anchor="ctr" bIns="60200" lIns="60200" spcFirstLastPara="1" rIns="60200" wrap="square" tIns="60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22"/>
                </a:p>
              </p:txBody>
            </p:sp>
            <p:sp>
              <p:nvSpPr>
                <p:cNvPr id="272" name="Google Shape;272;p25"/>
                <p:cNvSpPr/>
                <p:nvPr/>
              </p:nvSpPr>
              <p:spPr>
                <a:xfrm>
                  <a:off x="1251225" y="1314067"/>
                  <a:ext cx="1005900" cy="10059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60200" lIns="60200" spcFirstLastPara="1" rIns="60200" wrap="square" tIns="60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22"/>
                </a:p>
              </p:txBody>
            </p:sp>
            <p:sp>
              <p:nvSpPr>
                <p:cNvPr id="273" name="Google Shape;273;p25"/>
                <p:cNvSpPr/>
                <p:nvPr/>
              </p:nvSpPr>
              <p:spPr>
                <a:xfrm>
                  <a:off x="1296975" y="1359817"/>
                  <a:ext cx="914400" cy="914400"/>
                </a:xfrm>
                <a:prstGeom prst="ellipse">
                  <a:avLst/>
                </a:prstGeom>
                <a:solidFill>
                  <a:srgbClr val="CFE2F3"/>
                </a:solidFill>
                <a:ln>
                  <a:noFill/>
                </a:ln>
              </p:spPr>
              <p:txBody>
                <a:bodyPr anchorCtr="0" anchor="ctr" bIns="60200" lIns="60200" spcFirstLastPara="1" rIns="60200" wrap="square" tIns="60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22"/>
                </a:p>
              </p:txBody>
            </p:sp>
          </p:grpSp>
          <p:sp>
            <p:nvSpPr>
              <p:cNvPr id="274" name="Google Shape;274;p25"/>
              <p:cNvSpPr txBox="1"/>
              <p:nvPr/>
            </p:nvSpPr>
            <p:spPr>
              <a:xfrm>
                <a:off x="752526" y="2644775"/>
                <a:ext cx="2087100" cy="165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-262636" lvl="0" marL="2286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Age + Income</a:t>
                </a:r>
                <a:endParaRPr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-262636" lvl="0" marL="2286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Constraint on FPR and FNR (5%)</a:t>
                </a:r>
                <a:endParaRPr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-262636" lvl="0" marL="2286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Max - Min Disparity</a:t>
                </a:r>
                <a:endParaRPr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5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-262636" lvl="0" marL="2286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DM Sans"/>
                  <a:buChar char="●"/>
                </a:pPr>
                <a:r>
                  <a:rPr lang="en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Accuracy Declines</a:t>
                </a:r>
                <a:endParaRPr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pic>
          <p:nvPicPr>
            <p:cNvPr id="275" name="Google Shape;275;p2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38930" y="1484025"/>
              <a:ext cx="808250" cy="808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" name="Google Shape;276;p25"/>
          <p:cNvSpPr/>
          <p:nvPr/>
        </p:nvSpPr>
        <p:spPr>
          <a:xfrm>
            <a:off x="7500325" y="2882675"/>
            <a:ext cx="474000" cy="243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7974325" y="2882675"/>
            <a:ext cx="474000" cy="243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8448325" y="2882675"/>
            <a:ext cx="474000" cy="243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7516800" y="2466416"/>
            <a:ext cx="140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Age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7500188" y="3660925"/>
            <a:ext cx="474000" cy="243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7974188" y="3660925"/>
            <a:ext cx="474000" cy="243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8448188" y="3660925"/>
            <a:ext cx="474000" cy="243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7516663" y="3244666"/>
            <a:ext cx="140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Income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84" name="Google Shape;28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8289" y="3930941"/>
            <a:ext cx="377400" cy="3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Methodology for Assessing Fairness Objective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Calibri"/>
              <a:buChar char="➔"/>
            </a:pPr>
            <a:r>
              <a:rPr b="1" lang="en" sz="2200" u="sng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Debiasing Objective</a:t>
            </a:r>
            <a:r>
              <a:rPr lang="en" sz="22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Satisfy equalized odds.</a:t>
            </a:r>
            <a:endParaRPr sz="22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Calibri"/>
              <a:buChar char="◆"/>
            </a:pPr>
            <a:r>
              <a:rPr lang="en" sz="2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Each demographic group should experience the same FNR &amp; FPR.</a:t>
            </a:r>
            <a:endParaRPr sz="20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➔"/>
            </a:pPr>
            <a:r>
              <a:rPr lang="en" sz="2200">
                <a:solidFill>
                  <a:srgbClr val="00965A"/>
                </a:solidFill>
                <a:latin typeface="Calibri"/>
                <a:ea typeface="Calibri"/>
                <a:cs typeface="Calibri"/>
                <a:sym typeface="Calibri"/>
              </a:rPr>
              <a:t>Reduce the </a:t>
            </a:r>
            <a:r>
              <a:rPr lang="en" sz="2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disparity</a:t>
            </a:r>
            <a:r>
              <a:rPr lang="en" sz="2200">
                <a:solidFill>
                  <a:srgbClr val="00965A"/>
                </a:solidFill>
                <a:latin typeface="Calibri"/>
                <a:ea typeface="Calibri"/>
                <a:cs typeface="Calibri"/>
                <a:sym typeface="Calibri"/>
              </a:rPr>
              <a:t> (Max Rate – Min Rate) between levels of features for both FNR and FPR: </a:t>
            </a:r>
            <a:r>
              <a:rPr lang="en" sz="2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∆ FNR</a:t>
            </a:r>
            <a:r>
              <a:rPr lang="en" sz="2200">
                <a:solidFill>
                  <a:srgbClr val="00965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∆ FPR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◆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Numerical features partitioned into 4 to 6 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quantile-based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bins (equal sample sizes per bin)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◆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FNR &amp; FPR separately per feature level, then get disparity for the feature.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26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Fairlearn Overall Results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7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8" name="Google Shape;298;p27" title="fairlearn_comparison_split_pane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48737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8" title="NN_short_5050.png"/>
          <p:cNvPicPr preferRelativeResize="0"/>
          <p:nvPr/>
        </p:nvPicPr>
        <p:blipFill rotWithShape="1">
          <a:blip r:embed="rId3">
            <a:alphaModFix/>
          </a:blip>
          <a:srcRect b="0" l="0" r="15060" t="0"/>
          <a:stretch/>
        </p:blipFill>
        <p:spPr>
          <a:xfrm>
            <a:off x="311700" y="1367725"/>
            <a:ext cx="5957251" cy="255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heatmap: Fairlearn with NN (No SMOTE)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 txBox="1"/>
          <p:nvPr>
            <p:ph idx="1" type="body"/>
          </p:nvPr>
        </p:nvSpPr>
        <p:spPr>
          <a:xfrm>
            <a:off x="6392075" y="1504525"/>
            <a:ext cx="2079000" cy="25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 Applied Fairlearn constraints to the Neural Network.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Mechanism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 Weighted FPR or FNR disparity more heavily via a custom cost matrix.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Outcome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600">
                <a:solidFill>
                  <a:srgbClr val="00965A"/>
                </a:solidFill>
                <a:latin typeface="Calibri"/>
                <a:ea typeface="Calibri"/>
                <a:cs typeface="Calibri"/>
                <a:sym typeface="Calibri"/>
              </a:rPr>
              <a:t>Successfully reduced bias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 on specific features (age &amp; income)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28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9" title="NN_QELM_Fairlearn_shor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96" y="1453896"/>
            <a:ext cx="6400800" cy="286207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heatmap:  QELM Fairlearn 50/50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4572000" y="2028400"/>
            <a:ext cx="990300" cy="21906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9"/>
          <p:cNvSpPr txBox="1"/>
          <p:nvPr>
            <p:ph idx="1" type="body"/>
          </p:nvPr>
        </p:nvSpPr>
        <p:spPr>
          <a:xfrm>
            <a:off x="6318500" y="1627624"/>
            <a:ext cx="2286000" cy="30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Quantum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feature engineering &amp; Fairlearn produces a </a:t>
            </a:r>
            <a:r>
              <a:rPr lang="en" sz="1600">
                <a:solidFill>
                  <a:srgbClr val="00965A"/>
                </a:solidFill>
                <a:latin typeface="Calibri"/>
                <a:ea typeface="Calibri"/>
                <a:cs typeface="Calibri"/>
                <a:sym typeface="Calibri"/>
              </a:rPr>
              <a:t>lower bias model overall.</a:t>
            </a:r>
            <a:endParaRPr sz="1600">
              <a:solidFill>
                <a:srgbClr val="0096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Did not improve ∆ FNR, </a:t>
            </a:r>
            <a:b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∆ FPR</a:t>
            </a:r>
            <a:r>
              <a:rPr lang="en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for constrained features.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29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pic>
        <p:nvPicPr>
          <p:cNvPr id="321" name="Google Shape;32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863" y="2279875"/>
            <a:ext cx="4671438" cy="2288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30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XGBoost Hyperparameters and Tuning</a:t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470B4"/>
                </a:solidFill>
                <a:latin typeface="Calibri"/>
                <a:ea typeface="Calibri"/>
                <a:cs typeface="Calibri"/>
                <a:sym typeface="Calibri"/>
              </a:rPr>
              <a:t>Key Hyperparameters:</a:t>
            </a:r>
            <a:endParaRPr b="1">
              <a:solidFill>
                <a:srgbClr val="3470B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n_estimators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max_depth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learning_rate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min_child_weight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reg_lambda: L2 regularization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reg_alpha: L1 regularization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470B4"/>
                </a:solidFill>
                <a:latin typeface="Calibri"/>
                <a:ea typeface="Calibri"/>
                <a:cs typeface="Calibri"/>
                <a:sym typeface="Calibri"/>
              </a:rPr>
              <a:t>Tuning Strategy:</a:t>
            </a:r>
            <a:endParaRPr b="1">
              <a:solidFill>
                <a:srgbClr val="3470B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RandomizedSearchCV(): Randomized search + K-fold CV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31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heatmap:  Fairlearn &amp; SMOTE with NN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32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32"/>
          <p:cNvSpPr txBox="1"/>
          <p:nvPr>
            <p:ph idx="1" type="body"/>
          </p:nvPr>
        </p:nvSpPr>
        <p:spPr>
          <a:xfrm>
            <a:off x="6318500" y="1627626"/>
            <a:ext cx="2286000" cy="29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With SMOTE, 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disparity reduction not as effective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Satisfying constraints on synthetic data does not translate well to test set.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32" title="NN_short_SMOTE_50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96" y="1371600"/>
            <a:ext cx="5952744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Correlation of features with target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33" title="feat_cor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50" y="1152475"/>
            <a:ext cx="6651717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models</a:t>
            </a:r>
            <a:endParaRPr/>
          </a:p>
        </p:txBody>
      </p:sp>
      <p:graphicFrame>
        <p:nvGraphicFramePr>
          <p:cNvPr id="350" name="Google Shape;350;p34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{08E1E398-34F1-453E-84D0-733EE4AD50B5}</a:tableStyleId>
              </a:tblPr>
              <a:tblGrid>
                <a:gridCol w="1648750"/>
                <a:gridCol w="814525"/>
                <a:gridCol w="814525"/>
                <a:gridCol w="814525"/>
                <a:gridCol w="814525"/>
                <a:gridCol w="814525"/>
                <a:gridCol w="814525"/>
                <a:gridCol w="814525"/>
                <a:gridCol w="814525"/>
              </a:tblGrid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TNR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FNR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0.9143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0.7824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0.9776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0.0224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Fairlearn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0.9060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0.7464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0.9319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QELM Fairlearn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0.9039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0.7440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0.9115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0.6285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0.6285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0.0174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0.3715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0.9080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0.7871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0.8101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0.9487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0.0513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0.2345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0.7893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0.8786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0.7165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0.7165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0.9717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0.2835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Fairlearn XGBoost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0.9133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0.7753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0.9144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0.9820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0.0180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0.8940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0.7238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0.8597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0.9709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0.0291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0.3750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Fairlearn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0.8705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0.6246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0.8785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0.9809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0.0191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0.5155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QELM Fairlearn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0.8608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0.6316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0.7666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0.5370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0.9533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0.0467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0.4630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0.8419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0.6196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0.8688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0.1312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  <a:tr h="3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SMOTE Fairlearn NN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0.8488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0.6580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0.6614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0.9043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0.0957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 txBox="1"/>
          <p:nvPr/>
        </p:nvSpPr>
        <p:spPr>
          <a:xfrm>
            <a:off x="3026133" y="1002044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FPR disparity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56" name="Google Shape;35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heatmap: Fairlearn with NN (No SMOTE)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3026129" y="1201088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FNR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358" name="Google Shape;358;p35"/>
          <p:cNvCxnSpPr/>
          <p:nvPr/>
        </p:nvCxnSpPr>
        <p:spPr>
          <a:xfrm rot="10800000">
            <a:off x="2951100" y="1255775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359" name="Google Shape;359;p35" title="NN_No_SMOTE_Fairlearn_sh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56850"/>
            <a:ext cx="6400800" cy="286207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5"/>
          <p:cNvSpPr/>
          <p:nvPr/>
        </p:nvSpPr>
        <p:spPr>
          <a:xfrm>
            <a:off x="1998562" y="2018675"/>
            <a:ext cx="502800" cy="6402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5"/>
          <p:cNvSpPr/>
          <p:nvPr/>
        </p:nvSpPr>
        <p:spPr>
          <a:xfrm>
            <a:off x="1467700" y="2018525"/>
            <a:ext cx="502800" cy="6402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5"/>
          <p:cNvSpPr/>
          <p:nvPr/>
        </p:nvSpPr>
        <p:spPr>
          <a:xfrm>
            <a:off x="3025138" y="2018525"/>
            <a:ext cx="502800" cy="6402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5"/>
          <p:cNvSpPr/>
          <p:nvPr/>
        </p:nvSpPr>
        <p:spPr>
          <a:xfrm>
            <a:off x="4571118" y="2018525"/>
            <a:ext cx="502800" cy="6402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5"/>
          <p:cNvSpPr txBox="1"/>
          <p:nvPr>
            <p:ph idx="1" type="body"/>
          </p:nvPr>
        </p:nvSpPr>
        <p:spPr>
          <a:xfrm>
            <a:off x="6318504" y="1627632"/>
            <a:ext cx="2286000" cy="25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 Applied Fairlearn constraints to the Neural Network.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Mechanism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 Weighted FPR or FNR disparity more heavily via a custom cost matrix.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Outcome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600">
                <a:solidFill>
                  <a:srgbClr val="00965A"/>
                </a:solidFill>
                <a:latin typeface="Calibri"/>
                <a:ea typeface="Calibri"/>
                <a:cs typeface="Calibri"/>
                <a:sym typeface="Calibri"/>
              </a:rPr>
              <a:t>Successfully reduced bias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 on specific features (age &amp; income)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35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35"/>
          <p:cNvCxnSpPr/>
          <p:nvPr/>
        </p:nvCxnSpPr>
        <p:spPr>
          <a:xfrm rot="10800000">
            <a:off x="2951100" y="1447350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6" title="XGB_No_SMOTE_Fairlearn_sh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96" y="1453896"/>
            <a:ext cx="6400800" cy="2860964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heatmap:  </a:t>
            </a:r>
            <a:r>
              <a:rPr b="1" lang="en" sz="2578">
                <a:latin typeface="Calibri"/>
                <a:ea typeface="Calibri"/>
                <a:cs typeface="Calibri"/>
                <a:sym typeface="Calibri"/>
              </a:rPr>
              <a:t>Fairlearn with XGBoost (No SMOTE)</a:t>
            </a:r>
            <a:endParaRPr b="1" sz="257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6"/>
          <p:cNvSpPr txBox="1"/>
          <p:nvPr>
            <p:ph idx="1" type="body"/>
          </p:nvPr>
        </p:nvSpPr>
        <p:spPr>
          <a:xfrm>
            <a:off x="6318501" y="1627626"/>
            <a:ext cx="2286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Fairlearn 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does not behave predictably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for XGBoost.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Shifts due to Fairlearn constraints may cause variance in tree structure leading to complex optimization surface.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6"/>
          <p:cNvSpPr/>
          <p:nvPr/>
        </p:nvSpPr>
        <p:spPr>
          <a:xfrm>
            <a:off x="1998562" y="2018675"/>
            <a:ext cx="502800" cy="6402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6"/>
          <p:cNvSpPr/>
          <p:nvPr/>
        </p:nvSpPr>
        <p:spPr>
          <a:xfrm>
            <a:off x="1467700" y="2018525"/>
            <a:ext cx="502800" cy="6402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6"/>
          <p:cNvSpPr/>
          <p:nvPr/>
        </p:nvSpPr>
        <p:spPr>
          <a:xfrm>
            <a:off x="3025138" y="2018525"/>
            <a:ext cx="502800" cy="6402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6"/>
          <p:cNvSpPr/>
          <p:nvPr/>
        </p:nvSpPr>
        <p:spPr>
          <a:xfrm>
            <a:off x="4571118" y="2018525"/>
            <a:ext cx="502800" cy="6402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8" name="Google Shape;378;p36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9" name="Google Shape;379;p36"/>
          <p:cNvGrpSpPr/>
          <p:nvPr/>
        </p:nvGrpSpPr>
        <p:grpSpPr>
          <a:xfrm>
            <a:off x="2951100" y="1017725"/>
            <a:ext cx="2783458" cy="487563"/>
            <a:chOff x="2623050" y="874050"/>
            <a:chExt cx="2783458" cy="487563"/>
          </a:xfrm>
        </p:grpSpPr>
        <p:sp>
          <p:nvSpPr>
            <p:cNvPr id="380" name="Google Shape;380;p36"/>
            <p:cNvSpPr txBox="1"/>
            <p:nvPr/>
          </p:nvSpPr>
          <p:spPr>
            <a:xfrm>
              <a:off x="2760804" y="1057413"/>
              <a:ext cx="2645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increasing weight on FN error</a:t>
              </a:r>
              <a:endParaRPr sz="1000">
                <a:solidFill>
                  <a:schemeClr val="dk2"/>
                </a:solidFill>
              </a:endParaRPr>
            </a:p>
          </p:txBody>
        </p:sp>
        <p:cxnSp>
          <p:nvCxnSpPr>
            <p:cNvPr id="381" name="Google Shape;381;p36"/>
            <p:cNvCxnSpPr/>
            <p:nvPr/>
          </p:nvCxnSpPr>
          <p:spPr>
            <a:xfrm rot="10800000">
              <a:off x="2623050" y="1303675"/>
              <a:ext cx="2209200" cy="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82" name="Google Shape;382;p36"/>
            <p:cNvSpPr txBox="1"/>
            <p:nvPr/>
          </p:nvSpPr>
          <p:spPr>
            <a:xfrm>
              <a:off x="2760808" y="874050"/>
              <a:ext cx="2645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increasing weight on FP error</a:t>
              </a:r>
              <a:endParaRPr sz="1000">
                <a:solidFill>
                  <a:schemeClr val="dk2"/>
                </a:solidFill>
              </a:endParaRPr>
            </a:p>
          </p:txBody>
        </p:sp>
        <p:cxnSp>
          <p:nvCxnSpPr>
            <p:cNvPr id="383" name="Google Shape;383;p36"/>
            <p:cNvCxnSpPr/>
            <p:nvPr/>
          </p:nvCxnSpPr>
          <p:spPr>
            <a:xfrm rot="10800000">
              <a:off x="2623050" y="1112100"/>
              <a:ext cx="2209200" cy="0"/>
            </a:xfrm>
            <a:prstGeom prst="straightConnector1">
              <a:avLst/>
            </a:prstGeom>
            <a:noFill/>
            <a:ln cap="flat" cmpd="sng" w="19050">
              <a:solidFill>
                <a:srgbClr val="00FF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No SMOTE Fairlearn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By weighting FPR disparity or FNR disparity more heavily through cost matrix, Fairlearn constraints can reduce bias on designated features in neural network.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37" title="NN_No_SMOTE_Fairlea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9" y="1017725"/>
            <a:ext cx="5918590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7"/>
          <p:cNvSpPr/>
          <p:nvPr/>
        </p:nvSpPr>
        <p:spPr>
          <a:xfrm>
            <a:off x="19461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7"/>
          <p:cNvSpPr txBox="1"/>
          <p:nvPr/>
        </p:nvSpPr>
        <p:spPr>
          <a:xfrm>
            <a:off x="2676104" y="1057413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FNR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394" name="Google Shape;394;p37"/>
          <p:cNvCxnSpPr/>
          <p:nvPr/>
        </p:nvCxnSpPr>
        <p:spPr>
          <a:xfrm rot="10800000">
            <a:off x="2623050" y="1303675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5" name="Google Shape;395;p37"/>
          <p:cNvSpPr txBox="1"/>
          <p:nvPr/>
        </p:nvSpPr>
        <p:spPr>
          <a:xfrm>
            <a:off x="2662883" y="874050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FPR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396" name="Google Shape;396;p37"/>
          <p:cNvCxnSpPr/>
          <p:nvPr/>
        </p:nvCxnSpPr>
        <p:spPr>
          <a:xfrm rot="10800000">
            <a:off x="2623050" y="1112100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97" name="Google Shape;397;p37"/>
          <p:cNvSpPr/>
          <p:nvPr/>
        </p:nvSpPr>
        <p:spPr>
          <a:xfrm>
            <a:off x="14796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7"/>
          <p:cNvSpPr/>
          <p:nvPr/>
        </p:nvSpPr>
        <p:spPr>
          <a:xfrm>
            <a:off x="42990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7"/>
          <p:cNvSpPr/>
          <p:nvPr/>
        </p:nvSpPr>
        <p:spPr>
          <a:xfrm>
            <a:off x="28986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SMOTE Fairlearn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38" title="NN_SMOTE_Fairlea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75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8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Effects of Fairlearn constraints are reduced when SMOTE is applied to training data. SMOTE dilutes sensitivity to decision boundaries.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Satisfying constraints on synthetic data does not translate well to test set.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8"/>
          <p:cNvSpPr txBox="1"/>
          <p:nvPr/>
        </p:nvSpPr>
        <p:spPr>
          <a:xfrm>
            <a:off x="2676104" y="1057413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FNR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409" name="Google Shape;409;p38"/>
          <p:cNvCxnSpPr/>
          <p:nvPr/>
        </p:nvCxnSpPr>
        <p:spPr>
          <a:xfrm rot="10800000">
            <a:off x="2623050" y="1303675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0" name="Google Shape;410;p38"/>
          <p:cNvSpPr txBox="1"/>
          <p:nvPr/>
        </p:nvSpPr>
        <p:spPr>
          <a:xfrm>
            <a:off x="2662883" y="874050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FPR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411" name="Google Shape;411;p38"/>
          <p:cNvCxnSpPr/>
          <p:nvPr/>
        </p:nvCxnSpPr>
        <p:spPr>
          <a:xfrm rot="10800000">
            <a:off x="2623050" y="1112100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12" name="Google Shape;412;p38"/>
          <p:cNvSpPr/>
          <p:nvPr/>
        </p:nvSpPr>
        <p:spPr>
          <a:xfrm>
            <a:off x="19461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8"/>
          <p:cNvSpPr/>
          <p:nvPr/>
        </p:nvSpPr>
        <p:spPr>
          <a:xfrm>
            <a:off x="14796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8"/>
          <p:cNvSpPr/>
          <p:nvPr/>
        </p:nvSpPr>
        <p:spPr>
          <a:xfrm>
            <a:off x="42990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8"/>
          <p:cNvSpPr/>
          <p:nvPr/>
        </p:nvSpPr>
        <p:spPr>
          <a:xfrm>
            <a:off x="28986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No SMOTE Fairlearn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39" title="XGB_No_SMOTE_Fairlea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92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Fairlearn does not behave predictably for XGBoost models.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Shifts due to Fairlearn constraints may cause variance in tree structure leading to complex optimization surface.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9"/>
          <p:cNvSpPr txBox="1"/>
          <p:nvPr/>
        </p:nvSpPr>
        <p:spPr>
          <a:xfrm>
            <a:off x="2676104" y="1057413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FNR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425" name="Google Shape;425;p39"/>
          <p:cNvCxnSpPr/>
          <p:nvPr/>
        </p:nvCxnSpPr>
        <p:spPr>
          <a:xfrm rot="10800000">
            <a:off x="2623050" y="1303675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6" name="Google Shape;426;p39"/>
          <p:cNvSpPr txBox="1"/>
          <p:nvPr/>
        </p:nvSpPr>
        <p:spPr>
          <a:xfrm>
            <a:off x="2662883" y="874050"/>
            <a:ext cx="2645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increasing weight on FPR disparity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427" name="Google Shape;427;p39"/>
          <p:cNvCxnSpPr/>
          <p:nvPr/>
        </p:nvCxnSpPr>
        <p:spPr>
          <a:xfrm rot="10800000">
            <a:off x="2623050" y="1112100"/>
            <a:ext cx="2209200" cy="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28" name="Google Shape;428;p39"/>
          <p:cNvSpPr/>
          <p:nvPr/>
        </p:nvSpPr>
        <p:spPr>
          <a:xfrm>
            <a:off x="19461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9"/>
          <p:cNvSpPr/>
          <p:nvPr/>
        </p:nvSpPr>
        <p:spPr>
          <a:xfrm>
            <a:off x="1479650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9"/>
          <p:cNvSpPr/>
          <p:nvPr/>
        </p:nvSpPr>
        <p:spPr>
          <a:xfrm>
            <a:off x="4288467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9"/>
          <p:cNvSpPr/>
          <p:nvPr/>
        </p:nvSpPr>
        <p:spPr>
          <a:xfrm>
            <a:off x="2898675" y="1723300"/>
            <a:ext cx="423300" cy="4668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Fairlearn 50/50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40" title="NN_QELM_Fairlearn_50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017725"/>
            <a:ext cx="5918590" cy="35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0"/>
          <p:cNvSpPr txBox="1"/>
          <p:nvPr>
            <p:ph idx="1" type="body"/>
          </p:nvPr>
        </p:nvSpPr>
        <p:spPr>
          <a:xfrm>
            <a:off x="6164475" y="1302475"/>
            <a:ext cx="2522100" cy="32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QELM feature engineering combined with Fairlearn produces a lower bias model overall, though not for constrained features and in an inexplicable manner.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0"/>
          <p:cNvSpPr/>
          <p:nvPr/>
        </p:nvSpPr>
        <p:spPr>
          <a:xfrm>
            <a:off x="4279800" y="1742350"/>
            <a:ext cx="913800" cy="27525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SMOTE Fairlearn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7" name="Google Shape;447;p41" title="XGB_SMOTE_Fairlea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50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30/70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42" title="NN_QELM_Fairlearn_307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68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70/30 (NN)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43" title="NN_QELM_Fairlearn_7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83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30/70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7" name="Google Shape;467;p44" title="XGB_QELM_Fairlearn_307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017725"/>
            <a:ext cx="5918598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50/50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45" title="XGB_QELM_Fairlearn_50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600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FPR/FNR disparity heatmaps:  QELM 70/30 (XGBoost)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81" name="Google Shape;481;p46" title="XGB_QELM_Fairlearn_7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18583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Key pipeline elements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p47" title="PipelineDiagram_Present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25"/>
            <a:ext cx="9144003" cy="39290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47"/>
          <p:cNvCxnSpPr/>
          <p:nvPr/>
        </p:nvCxnSpPr>
        <p:spPr>
          <a:xfrm flipH="1" rot="10800000">
            <a:off x="415450" y="1008725"/>
            <a:ext cx="2170800" cy="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