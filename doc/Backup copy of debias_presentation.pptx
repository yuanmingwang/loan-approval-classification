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DCB948-7AFE-4B7A-A042-D1D74294AA01}">
  <a:tblStyle styleId="{12DCB948-7AFE-4B7A-A042-D1D74294AA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</a:rPr>
              <a:t>We should NOT read the title :)!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952bf668b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952bf668b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82be44b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82be44b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Don’t need to read out all the features.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82be44b2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82be44b2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E.g. &gt; 144 years old. What is isolation forest. </a:t>
            </a:r>
            <a:r>
              <a:rPr lang="en">
                <a:solidFill>
                  <a:srgbClr val="595959"/>
                </a:solidFill>
              </a:rPr>
              <a:t>iForest trained on training data only. </a:t>
            </a:r>
            <a:r>
              <a:rPr lang="en">
                <a:solidFill>
                  <a:schemeClr val="dk1"/>
                </a:solidFill>
              </a:rPr>
              <a:t> Remind what is SMOTE. Also, </a:t>
            </a:r>
            <a:r>
              <a:rPr lang="en">
                <a:solidFill>
                  <a:srgbClr val="595959"/>
                </a:solidFill>
              </a:rPr>
              <a:t>why it was important to split off test before iForest and SMOTE. 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55d5157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55d5157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Very brief on these two slides. Note that class distribution for targets is now 50/50, but some shifting in other distributions…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55d51572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55d51572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…more noticeable for numerical features.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82be44b2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82be44b2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82be44b2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82be44b2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Tododo: turn the table into bar chart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572db716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572db716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We experimented with several feature engineering methods, going to talk about just one. Just show this circuit, not both. </a:t>
            </a: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Why might QELM be useful? Improve separability? Sensitive pattern detection (bias detection?). One layer is shown. Layers can be chained together for more expressivity. 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572db716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572db716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82be44b2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82be44b2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did not know about this at the start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94612fa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94612fa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82be44b2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82be44b2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952bf668b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952bf668b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586ce7af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586ce7af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586ce7af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f586ce7af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586ce7af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586ce7af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586ce7af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f586ce7af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586ce7af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f586ce7af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586ce7af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f586ce7af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952bf668b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f952bf668b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952bf668b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f952bf668b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952bf668b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f952bf668b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952bf668b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f952bf668b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952bf668b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f952bf668b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586ce7afb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f586ce7afb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586ce7afb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f586ce7afb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586ce7afb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f586ce7afb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586ce7afb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f586ce7afb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586ce7afb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f586ce7afb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586ce7afb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f586ce7afb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kaggle.com/datasets/sumit12100012/loan-approval-classification/data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fairlearn.org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Calibri"/>
                <a:ea typeface="Calibri"/>
                <a:cs typeface="Calibri"/>
                <a:sym typeface="Calibri"/>
              </a:rPr>
              <a:t>Classical and hybrid quantum-classical </a:t>
            </a:r>
            <a:br>
              <a:rPr lang="en" sz="3500">
                <a:latin typeface="Calibri"/>
                <a:ea typeface="Calibri"/>
                <a:cs typeface="Calibri"/>
                <a:sym typeface="Calibri"/>
              </a:rPr>
            </a:br>
            <a:r>
              <a:rPr lang="en" sz="3500">
                <a:latin typeface="Calibri"/>
                <a:ea typeface="Calibri"/>
                <a:cs typeface="Calibri"/>
                <a:sym typeface="Calibri"/>
              </a:rPr>
              <a:t>ML analysis of bias in loan default prediction</a:t>
            </a:r>
            <a:endParaRPr sz="5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b="1" lang="en" sz="155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55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Tan Dai Ngo, Da  Zhang, Yuanming Wang, Joyce van de Vegte , Naomi Phan, Jeremy Perkins </a:t>
            </a:r>
            <a:endParaRPr sz="155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17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motivation/basic pipeline/SMOTE Dai  2.5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XGBoost Models - suitability/hyperparameters/results Adam  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NN </a:t>
            </a:r>
            <a:r>
              <a:rPr lang="en"/>
              <a:t>Models - suitability/hyperparameters/results Yuanming 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Feature engineering (QELM) Joyce 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Fairlearn Naomi 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Per feature heatmaps (results for Fairlearn and QELM) Jeremy 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Bias in l</a:t>
            </a:r>
            <a:r>
              <a:rPr b="1" lang="en">
                <a:latin typeface="Calibri"/>
                <a:ea typeface="Calibri"/>
                <a:cs typeface="Calibri"/>
                <a:sym typeface="Calibri"/>
              </a:rPr>
              <a:t>oan default modelling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What is the point of our work/ our motivation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Why bias for a  loan default model is important - banks use loan default to inform loan approval models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FNR is what the bank cares about, FPR is what the client cares about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Dataset: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Loan default </a:t>
            </a:r>
            <a:r>
              <a:rPr lang="en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https://www.kaggle.com/datasets/sumit12100012/loan-approval-classification/data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Features: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5 categorical and 7 numerical demographic and financial features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Key pipeline elements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0" cy="3301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Effect of SMOTE on categorical features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2369386"/>
            <a:ext cx="693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400">
                <a:latin typeface="Calibri"/>
                <a:ea typeface="Calibri"/>
                <a:cs typeface="Calibri"/>
                <a:sym typeface="Calibri"/>
              </a:rPr>
              <a:t>Before SMOTE</a:t>
            </a:r>
            <a:endParaRPr b="1" sz="6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7453401" cy="12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887791"/>
            <a:ext cx="7453401" cy="123028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4118072"/>
            <a:ext cx="693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400">
                <a:latin typeface="Calibri"/>
                <a:ea typeface="Calibri"/>
                <a:cs typeface="Calibri"/>
                <a:sym typeface="Calibri"/>
              </a:rPr>
              <a:t>After </a:t>
            </a:r>
            <a:r>
              <a:rPr b="1" lang="en" sz="6400">
                <a:latin typeface="Calibri"/>
                <a:ea typeface="Calibri"/>
                <a:cs typeface="Calibri"/>
                <a:sym typeface="Calibri"/>
              </a:rPr>
              <a:t>SMOTE</a:t>
            </a:r>
            <a:endParaRPr b="1" sz="6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311700" y="4551750"/>
            <a:ext cx="8096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 samples with previous defaults have loan default so “previous </a:t>
            </a:r>
            <a:r>
              <a:rPr lang="en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loan defaults on file” </a:t>
            </a:r>
            <a:r>
              <a:rPr lang="en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r>
              <a:rPr lang="en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was removed to avoid bias.</a:t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Effect of SMOTE on numerical features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68328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Models: XGBoost and Neural Network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What is XGBoost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Why is it a good choice for this data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What hyperparameters can be tuned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Neural Networks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Why is it a good choice for this data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What hyper parameters can be tuned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What scaling/encoding needed for each type of model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Model results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5729700" cy="18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What effect did SMOTE have? What do we want to point out?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Comment on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differences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 between XGBoost and NN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bar chart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3" name="Google Shape;103;p20"/>
          <p:cNvGraphicFramePr/>
          <p:nvPr/>
        </p:nvGraphicFramePr>
        <p:xfrm>
          <a:off x="311700" y="276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{12DCB948-7AFE-4B7A-A042-D1D74294AA01}</a:tableStyleId>
              </a:tblPr>
              <a:tblGrid>
                <a:gridCol w="1616450"/>
                <a:gridCol w="898700"/>
                <a:gridCol w="898700"/>
                <a:gridCol w="898700"/>
              </a:tblGrid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FPR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FNR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XGBoost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0.9143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0.0224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0.3070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Weighted XGBoost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0.9080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0.0513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0.2345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SMOTE XGBoost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0.9150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0.0283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0.2835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NN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0.8940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0.0291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0.3750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SMOTE NN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0.8419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0.1312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0.2525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Quantum feature engineering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3177125"/>
            <a:ext cx="7926300" cy="15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Each row is one qubit. Actual circuit has 12 qubits, one for each feature in dataset.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Features are encoded as angles.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For 12 qubits, quantum state exists in 2</a:t>
            </a:r>
            <a:r>
              <a:rPr baseline="30000" lang="en"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 = 4096 dimensions.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Observables create 78 quantum features.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418" y="1152475"/>
            <a:ext cx="6632450" cy="188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One-slide q</a:t>
            </a:r>
            <a:r>
              <a:rPr b="1" lang="en">
                <a:latin typeface="Calibri"/>
                <a:ea typeface="Calibri"/>
                <a:cs typeface="Calibri"/>
                <a:sym typeface="Calibri"/>
              </a:rPr>
              <a:t>uantum primer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Basis states for 1 qubit: |0⟩ and |1⟩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3-qubit q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uantum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 state in superposition 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When measured, a quantum state  collapses to classical bits.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Probability of measuring 000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 is 0.7 and probability of measuring 110 is 0.3.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Observable detects patterns for each qubit and interactions between qubits:                                                                                 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Probabilities of basis states determine expected value over many samples.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932" y="3507875"/>
            <a:ext cx="4221658" cy="37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7425" y="1604423"/>
            <a:ext cx="3399700" cy="37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Fairlearn-constrained debiasing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96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Fairlearn is an open-source project to help data scientists improve fairness of AI systems. </a:t>
            </a:r>
            <a:r>
              <a:rPr lang="en" sz="185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https://fairlearn.org/</a:t>
            </a:r>
            <a:r>
              <a:rPr lang="en" sz="1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50"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lang="en" sz="1850">
                <a:latin typeface="Calibri"/>
                <a:ea typeface="Calibri"/>
                <a:cs typeface="Calibri"/>
                <a:sym typeface="Calibri"/>
              </a:rPr>
              <a:t>capabilities does it offer?</a:t>
            </a:r>
            <a:endParaRPr sz="18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50">
                <a:latin typeface="Calibri"/>
                <a:ea typeface="Calibri"/>
                <a:cs typeface="Calibri"/>
                <a:sym typeface="Calibri"/>
              </a:rPr>
              <a:t>How did we use it?</a:t>
            </a:r>
            <a:endParaRPr sz="18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9459"/>
              <a:buFont typeface="Arial"/>
              <a:buNone/>
            </a:pPr>
            <a:r>
              <a:rPr lang="en" sz="1850">
                <a:latin typeface="Calibri"/>
                <a:ea typeface="Calibri"/>
                <a:cs typeface="Calibri"/>
                <a:sym typeface="Calibri"/>
              </a:rPr>
              <a:t>Comment on differences due to Fairlearn</a:t>
            </a:r>
            <a:endParaRPr sz="18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9459"/>
              <a:buFont typeface="Arial"/>
              <a:buNone/>
            </a:pPr>
            <a:r>
              <a:rPr lang="en" sz="1850">
                <a:latin typeface="Calibri"/>
                <a:ea typeface="Calibri"/>
                <a:cs typeface="Calibri"/>
                <a:sym typeface="Calibri"/>
              </a:rPr>
              <a:t>Comment on differences due to QELM</a:t>
            </a:r>
            <a:endParaRPr sz="18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Fairlearn model results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4698425" y="1152475"/>
            <a:ext cx="413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Note that these are overall metrics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1" name="Google Shape;131;p24"/>
          <p:cNvGraphicFramePr/>
          <p:nvPr/>
        </p:nvGraphicFramePr>
        <p:xfrm>
          <a:off x="359325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{12DCB948-7AFE-4B7A-A042-D1D74294AA01}</a:tableStyleId>
              </a:tblPr>
              <a:tblGrid>
                <a:gridCol w="1704725"/>
                <a:gridCol w="809750"/>
                <a:gridCol w="809750"/>
                <a:gridCol w="809750"/>
              </a:tblGrid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FPR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FNR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XGBoost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0.9143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0.0224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0.3070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Fairlearn XGBoost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0.9060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0.0130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0.3775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QELM Fairlearn XGBoost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0.9039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0.0174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0.3715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SMOTE XGBoost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0.9150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0.0283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0.2835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SMOTE Fairlearn XGBoost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0.9133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0.0180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0.3270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NN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0.8940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0.0291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0.3750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Fairlearn NN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0.8705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0.0191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0.5155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QELM Fairlearn NN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0.8608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0.0467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0.4630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SMOTE NN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0.8419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0.1312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0.2525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SMOTE Fairlearn NN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0.8488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0.0957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0.3455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132" name="Google Shape;132;p24"/>
          <p:cNvSpPr/>
          <p:nvPr/>
        </p:nvSpPr>
        <p:spPr>
          <a:xfrm>
            <a:off x="359325" y="1754025"/>
            <a:ext cx="4134000" cy="5727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4"/>
          <p:cNvSpPr/>
          <p:nvPr/>
        </p:nvSpPr>
        <p:spPr>
          <a:xfrm>
            <a:off x="359325" y="2656350"/>
            <a:ext cx="4134000" cy="3009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4"/>
          <p:cNvSpPr/>
          <p:nvPr/>
        </p:nvSpPr>
        <p:spPr>
          <a:xfrm>
            <a:off x="359325" y="3257900"/>
            <a:ext cx="4134000" cy="6015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4"/>
          <p:cNvSpPr/>
          <p:nvPr/>
        </p:nvSpPr>
        <p:spPr>
          <a:xfrm>
            <a:off x="359313" y="4160050"/>
            <a:ext cx="4134000" cy="3009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Per-feature deep dive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Explain FPR and FNR disparity heatmaps to compare bias before and after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7" title="NN_QELM_Fairlearn_5050_sho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61625"/>
            <a:ext cx="6414500" cy="320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heatmap: No SMOTE Fairlearn (NN)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6436599" y="1838625"/>
            <a:ext cx="2010000" cy="25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By weighting FPR disparity or FNR disparity more heavily through cost matrix, Fairlearn constraints can reduce bias on designated features in neural network.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7"/>
          <p:cNvSpPr/>
          <p:nvPr/>
        </p:nvSpPr>
        <p:spPr>
          <a:xfrm>
            <a:off x="2136675" y="2018675"/>
            <a:ext cx="457200" cy="6900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7" name="Google Shape;157;p27"/>
          <p:cNvGrpSpPr/>
          <p:nvPr/>
        </p:nvGrpSpPr>
        <p:grpSpPr>
          <a:xfrm>
            <a:off x="2951100" y="1017725"/>
            <a:ext cx="2698754" cy="487563"/>
            <a:chOff x="2623050" y="874050"/>
            <a:chExt cx="2698754" cy="487563"/>
          </a:xfrm>
        </p:grpSpPr>
        <p:sp>
          <p:nvSpPr>
            <p:cNvPr id="158" name="Google Shape;158;p27"/>
            <p:cNvSpPr txBox="1"/>
            <p:nvPr/>
          </p:nvSpPr>
          <p:spPr>
            <a:xfrm>
              <a:off x="2676104" y="1057413"/>
              <a:ext cx="2645700" cy="3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</a:rPr>
                <a:t>increasing weight on FNR disparity</a:t>
              </a:r>
              <a:endParaRPr sz="1000">
                <a:solidFill>
                  <a:schemeClr val="dk2"/>
                </a:solidFill>
              </a:endParaRPr>
            </a:p>
          </p:txBody>
        </p:sp>
        <p:cxnSp>
          <p:nvCxnSpPr>
            <p:cNvPr id="159" name="Google Shape;159;p27"/>
            <p:cNvCxnSpPr/>
            <p:nvPr/>
          </p:nvCxnSpPr>
          <p:spPr>
            <a:xfrm rot="10800000">
              <a:off x="2623050" y="1303675"/>
              <a:ext cx="2209200" cy="0"/>
            </a:xfrm>
            <a:prstGeom prst="straightConnector1">
              <a:avLst/>
            </a:prstGeom>
            <a:noFill/>
            <a:ln cap="flat" cmpd="sng" w="19050">
              <a:solidFill>
                <a:srgbClr val="FF00FF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60" name="Google Shape;160;p27"/>
            <p:cNvSpPr txBox="1"/>
            <p:nvPr/>
          </p:nvSpPr>
          <p:spPr>
            <a:xfrm>
              <a:off x="2662883" y="874050"/>
              <a:ext cx="2645700" cy="3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</a:rPr>
                <a:t>increasing weight on FPR disparity</a:t>
              </a:r>
              <a:endParaRPr sz="1000">
                <a:solidFill>
                  <a:schemeClr val="dk2"/>
                </a:solidFill>
              </a:endParaRPr>
            </a:p>
          </p:txBody>
        </p:sp>
        <p:cxnSp>
          <p:nvCxnSpPr>
            <p:cNvPr id="161" name="Google Shape;161;p27"/>
            <p:cNvCxnSpPr/>
            <p:nvPr/>
          </p:nvCxnSpPr>
          <p:spPr>
            <a:xfrm rot="10800000">
              <a:off x="2623050" y="1112100"/>
              <a:ext cx="2209200" cy="0"/>
            </a:xfrm>
            <a:prstGeom prst="straightConnector1">
              <a:avLst/>
            </a:prstGeom>
            <a:noFill/>
            <a:ln cap="flat" cmpd="sng" w="19050">
              <a:solidFill>
                <a:srgbClr val="00FF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</p:grpSp>
      <p:sp>
        <p:nvSpPr>
          <p:cNvPr id="162" name="Google Shape;162;p27"/>
          <p:cNvSpPr/>
          <p:nvPr/>
        </p:nvSpPr>
        <p:spPr>
          <a:xfrm>
            <a:off x="1627817" y="2018525"/>
            <a:ext cx="475500" cy="6900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7"/>
          <p:cNvSpPr/>
          <p:nvPr/>
        </p:nvSpPr>
        <p:spPr>
          <a:xfrm>
            <a:off x="3125150" y="2018525"/>
            <a:ext cx="477000" cy="6900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7"/>
          <p:cNvSpPr/>
          <p:nvPr/>
        </p:nvSpPr>
        <p:spPr>
          <a:xfrm>
            <a:off x="4621124" y="2018525"/>
            <a:ext cx="477000" cy="6900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heatmap:  SMOTE Fairlearn (NN)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28" title="NN_SMOTE_Fairlear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918575" cy="35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6164475" y="1302475"/>
            <a:ext cx="2522100" cy="32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Effects of Fairlearn constraints are reduced when SMOTE is applied to training data. SMOTE dilutes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sensitivity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 to decision boundaries.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Satisfying constraints on synthetic data does not translate well to test set.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8"/>
          <p:cNvSpPr txBox="1"/>
          <p:nvPr/>
        </p:nvSpPr>
        <p:spPr>
          <a:xfrm>
            <a:off x="2676104" y="1057413"/>
            <a:ext cx="26457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increasing weight on FNR disparity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174" name="Google Shape;174;p28"/>
          <p:cNvCxnSpPr/>
          <p:nvPr/>
        </p:nvCxnSpPr>
        <p:spPr>
          <a:xfrm rot="10800000">
            <a:off x="2623050" y="1303675"/>
            <a:ext cx="22092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5" name="Google Shape;175;p28"/>
          <p:cNvSpPr txBox="1"/>
          <p:nvPr/>
        </p:nvSpPr>
        <p:spPr>
          <a:xfrm>
            <a:off x="2662883" y="874050"/>
            <a:ext cx="26457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increasing weight on FPR disparity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176" name="Google Shape;176;p28"/>
          <p:cNvCxnSpPr/>
          <p:nvPr/>
        </p:nvCxnSpPr>
        <p:spPr>
          <a:xfrm rot="10800000">
            <a:off x="2623050" y="1112100"/>
            <a:ext cx="2209200" cy="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77" name="Google Shape;177;p28"/>
          <p:cNvSpPr/>
          <p:nvPr/>
        </p:nvSpPr>
        <p:spPr>
          <a:xfrm>
            <a:off x="1946175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8"/>
          <p:cNvSpPr/>
          <p:nvPr/>
        </p:nvSpPr>
        <p:spPr>
          <a:xfrm>
            <a:off x="1479650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8"/>
          <p:cNvSpPr/>
          <p:nvPr/>
        </p:nvSpPr>
        <p:spPr>
          <a:xfrm>
            <a:off x="4299050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8"/>
          <p:cNvSpPr/>
          <p:nvPr/>
        </p:nvSpPr>
        <p:spPr>
          <a:xfrm>
            <a:off x="2898675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heatmap:  No SMOTE Fairlearn (XGBoost)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29" title="XGB_No_SMOTE_Fairlear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918592" cy="35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9"/>
          <p:cNvSpPr txBox="1"/>
          <p:nvPr>
            <p:ph idx="1" type="body"/>
          </p:nvPr>
        </p:nvSpPr>
        <p:spPr>
          <a:xfrm>
            <a:off x="6164475" y="1302475"/>
            <a:ext cx="2522100" cy="32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Fairlearn does not behave predictably for XGBoost models.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Shifts due to Fairlearn constraints may cause variance in tree structure leading to complex optimization surface.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9"/>
          <p:cNvSpPr txBox="1"/>
          <p:nvPr/>
        </p:nvSpPr>
        <p:spPr>
          <a:xfrm>
            <a:off x="2676104" y="1057413"/>
            <a:ext cx="26457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increasing weight on FNR disparity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190" name="Google Shape;190;p29"/>
          <p:cNvCxnSpPr/>
          <p:nvPr/>
        </p:nvCxnSpPr>
        <p:spPr>
          <a:xfrm rot="10800000">
            <a:off x="2623050" y="1303675"/>
            <a:ext cx="22092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1" name="Google Shape;191;p29"/>
          <p:cNvSpPr txBox="1"/>
          <p:nvPr/>
        </p:nvSpPr>
        <p:spPr>
          <a:xfrm>
            <a:off x="2662883" y="874050"/>
            <a:ext cx="26457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increasing weight on FPR disparity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192" name="Google Shape;192;p29"/>
          <p:cNvCxnSpPr/>
          <p:nvPr/>
        </p:nvCxnSpPr>
        <p:spPr>
          <a:xfrm rot="10800000">
            <a:off x="2623050" y="1112100"/>
            <a:ext cx="2209200" cy="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93" name="Google Shape;193;p29"/>
          <p:cNvSpPr/>
          <p:nvPr/>
        </p:nvSpPr>
        <p:spPr>
          <a:xfrm>
            <a:off x="1946175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9"/>
          <p:cNvSpPr/>
          <p:nvPr/>
        </p:nvSpPr>
        <p:spPr>
          <a:xfrm>
            <a:off x="1479650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9"/>
          <p:cNvSpPr/>
          <p:nvPr/>
        </p:nvSpPr>
        <p:spPr>
          <a:xfrm>
            <a:off x="4288467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9"/>
          <p:cNvSpPr/>
          <p:nvPr/>
        </p:nvSpPr>
        <p:spPr>
          <a:xfrm>
            <a:off x="2898675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heatmap:  QELM Fairlearn 50/50 (NN)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30" title="NN_QELM_Fairlearn_50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1017725"/>
            <a:ext cx="5918590" cy="35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0"/>
          <p:cNvSpPr txBox="1"/>
          <p:nvPr>
            <p:ph idx="1" type="body"/>
          </p:nvPr>
        </p:nvSpPr>
        <p:spPr>
          <a:xfrm>
            <a:off x="6164475" y="1302475"/>
            <a:ext cx="2522100" cy="32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QELM feature engineering combined with Fairlearn produces a lower bias model overall, though not for constrained features and in an inexplicable manner.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0"/>
          <p:cNvSpPr/>
          <p:nvPr/>
        </p:nvSpPr>
        <p:spPr>
          <a:xfrm>
            <a:off x="4279800" y="1742350"/>
            <a:ext cx="913800" cy="27525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211" name="Google Shape;21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0863" y="2279875"/>
            <a:ext cx="4671438" cy="2288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Correlation of features with target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32" title="feat_cor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450" y="1152475"/>
            <a:ext cx="6651717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models</a:t>
            </a:r>
            <a:endParaRPr/>
          </a:p>
        </p:txBody>
      </p:sp>
      <p:graphicFrame>
        <p:nvGraphicFramePr>
          <p:cNvPr id="225" name="Google Shape;225;p33"/>
          <p:cNvGraphicFramePr/>
          <p:nvPr/>
        </p:nvGraphicFramePr>
        <p:xfrm>
          <a:off x="31170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{12DCB948-7AFE-4B7A-A042-D1D74294AA01}</a:tableStyleId>
              </a:tblPr>
              <a:tblGrid>
                <a:gridCol w="1648750"/>
                <a:gridCol w="814525"/>
                <a:gridCol w="814525"/>
                <a:gridCol w="814525"/>
                <a:gridCol w="814525"/>
                <a:gridCol w="814525"/>
                <a:gridCol w="814525"/>
                <a:gridCol w="814525"/>
                <a:gridCol w="814525"/>
              </a:tblGrid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F1-score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TPR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TNR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FPR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FNR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XGBoost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0.9143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0.7824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0.8983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0.6930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0.6930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0.9776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0.0224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0.3070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Fairlearn XGBoost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0.9060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0.7464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0.9319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0.6225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0.6225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0.9870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0.0130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0.3775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QELM Fairlearn XGBoost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0.9039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0.7440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0.9115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0.6285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0.6285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0.9826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0.0174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0.3715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Weighted XGBoost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0.9080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0.7871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0.8101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0.7655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0.7655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0.9487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0.0513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0.2345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SMOTE XGBoost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0.9150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0.7893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0.8786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0.7165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0.7165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0.9717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0.0283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0.2835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SMOTE Fairlearn XGBoost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0.9133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0.7753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0.9144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0.6730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0.6730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0.9820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0.0180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0.3270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NN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0.8940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0.7238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0.8597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0.6250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0.6250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0.9709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0.0291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0.3750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Fairlearn NN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0.8705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0.6246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0.8785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0.4845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0.4845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0.9809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0.0191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0.5155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QELM Fairlearn NN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0.8608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0.6316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0.7666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0.5370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0.5370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0.9533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0.0467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0.4630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SMOTE NN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0.8419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0.6775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0.6196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0.7475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0.7475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0.8688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0.1312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0.2525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SMOTE Fairlearn NN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0.8488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0.6580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0.6614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0.6545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0.6545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0.9043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0.0957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0.3455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heatmaps: No SMOTE Fairlearn (NN)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4"/>
          <p:cNvSpPr txBox="1"/>
          <p:nvPr>
            <p:ph idx="1" type="body"/>
          </p:nvPr>
        </p:nvSpPr>
        <p:spPr>
          <a:xfrm>
            <a:off x="6164475" y="1302475"/>
            <a:ext cx="2522100" cy="32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By weighting FPR disparity or FNR disparity more heavily through cost matrix, Fairlearn constraints can reduce bias on designated features in neural network.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34" title="NN_No_SMOTE_Fairlear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9" y="1017725"/>
            <a:ext cx="5918590" cy="35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4"/>
          <p:cNvSpPr/>
          <p:nvPr/>
        </p:nvSpPr>
        <p:spPr>
          <a:xfrm>
            <a:off x="1946175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4"/>
          <p:cNvSpPr txBox="1"/>
          <p:nvPr/>
        </p:nvSpPr>
        <p:spPr>
          <a:xfrm>
            <a:off x="2676104" y="1057413"/>
            <a:ext cx="26457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increasing weight on FNR disparity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236" name="Google Shape;236;p34"/>
          <p:cNvCxnSpPr/>
          <p:nvPr/>
        </p:nvCxnSpPr>
        <p:spPr>
          <a:xfrm rot="10800000">
            <a:off x="2623050" y="1303675"/>
            <a:ext cx="22092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7" name="Google Shape;237;p34"/>
          <p:cNvSpPr txBox="1"/>
          <p:nvPr/>
        </p:nvSpPr>
        <p:spPr>
          <a:xfrm>
            <a:off x="2662883" y="874050"/>
            <a:ext cx="26457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increasing weight on FPR disparity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238" name="Google Shape;238;p34"/>
          <p:cNvCxnSpPr/>
          <p:nvPr/>
        </p:nvCxnSpPr>
        <p:spPr>
          <a:xfrm rot="10800000">
            <a:off x="2623050" y="1112100"/>
            <a:ext cx="2209200" cy="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39" name="Google Shape;239;p34"/>
          <p:cNvSpPr/>
          <p:nvPr/>
        </p:nvSpPr>
        <p:spPr>
          <a:xfrm>
            <a:off x="1479650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4"/>
          <p:cNvSpPr/>
          <p:nvPr/>
        </p:nvSpPr>
        <p:spPr>
          <a:xfrm>
            <a:off x="4299050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4"/>
          <p:cNvSpPr/>
          <p:nvPr/>
        </p:nvSpPr>
        <p:spPr>
          <a:xfrm>
            <a:off x="2898675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heatmaps:  SMOTE Fairlearn (NN)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35" title="NN_SMOTE_Fairlear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918575" cy="35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5"/>
          <p:cNvSpPr txBox="1"/>
          <p:nvPr>
            <p:ph idx="1" type="body"/>
          </p:nvPr>
        </p:nvSpPr>
        <p:spPr>
          <a:xfrm>
            <a:off x="6164475" y="1302475"/>
            <a:ext cx="2522100" cy="32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Effects of Fairlearn constraints are reduced when SMOTE is applied to training data. SMOTE dilutes sensitivity to decision boundaries.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Satisfying constraints on synthetic data does not translate well to test set.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5"/>
          <p:cNvSpPr txBox="1"/>
          <p:nvPr/>
        </p:nvSpPr>
        <p:spPr>
          <a:xfrm>
            <a:off x="2676104" y="1057413"/>
            <a:ext cx="26457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increasing weight on FNR disparity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251" name="Google Shape;251;p35"/>
          <p:cNvCxnSpPr/>
          <p:nvPr/>
        </p:nvCxnSpPr>
        <p:spPr>
          <a:xfrm rot="10800000">
            <a:off x="2623050" y="1303675"/>
            <a:ext cx="22092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2" name="Google Shape;252;p35"/>
          <p:cNvSpPr txBox="1"/>
          <p:nvPr/>
        </p:nvSpPr>
        <p:spPr>
          <a:xfrm>
            <a:off x="2662883" y="874050"/>
            <a:ext cx="26457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increasing weight on FPR disparity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253" name="Google Shape;253;p35"/>
          <p:cNvCxnSpPr/>
          <p:nvPr/>
        </p:nvCxnSpPr>
        <p:spPr>
          <a:xfrm rot="10800000">
            <a:off x="2623050" y="1112100"/>
            <a:ext cx="2209200" cy="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54" name="Google Shape;254;p35"/>
          <p:cNvSpPr/>
          <p:nvPr/>
        </p:nvSpPr>
        <p:spPr>
          <a:xfrm>
            <a:off x="1946175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5"/>
          <p:cNvSpPr/>
          <p:nvPr/>
        </p:nvSpPr>
        <p:spPr>
          <a:xfrm>
            <a:off x="1479650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5"/>
          <p:cNvSpPr/>
          <p:nvPr/>
        </p:nvSpPr>
        <p:spPr>
          <a:xfrm>
            <a:off x="4299050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5"/>
          <p:cNvSpPr/>
          <p:nvPr/>
        </p:nvSpPr>
        <p:spPr>
          <a:xfrm>
            <a:off x="2898675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heatmaps:  No SMOTE Fairlearn (XGBoost)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p36" title="XGB_No_SMOTE_Fairlear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918592" cy="35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6"/>
          <p:cNvSpPr txBox="1"/>
          <p:nvPr>
            <p:ph idx="1" type="body"/>
          </p:nvPr>
        </p:nvSpPr>
        <p:spPr>
          <a:xfrm>
            <a:off x="6164475" y="1302475"/>
            <a:ext cx="2522100" cy="32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Fairlearn does not behave predictably for XGBoost models.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Shifts due to Fairlearn constraints may cause variance in tree structure leading to complex optimization surface.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6"/>
          <p:cNvSpPr txBox="1"/>
          <p:nvPr/>
        </p:nvSpPr>
        <p:spPr>
          <a:xfrm>
            <a:off x="2676104" y="1057413"/>
            <a:ext cx="26457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increasing weight on FNR disparity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267" name="Google Shape;267;p36"/>
          <p:cNvCxnSpPr/>
          <p:nvPr/>
        </p:nvCxnSpPr>
        <p:spPr>
          <a:xfrm rot="10800000">
            <a:off x="2623050" y="1303675"/>
            <a:ext cx="22092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8" name="Google Shape;268;p36"/>
          <p:cNvSpPr txBox="1"/>
          <p:nvPr/>
        </p:nvSpPr>
        <p:spPr>
          <a:xfrm>
            <a:off x="2662883" y="874050"/>
            <a:ext cx="26457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increasing weight on FPR disparity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269" name="Google Shape;269;p36"/>
          <p:cNvCxnSpPr/>
          <p:nvPr/>
        </p:nvCxnSpPr>
        <p:spPr>
          <a:xfrm rot="10800000">
            <a:off x="2623050" y="1112100"/>
            <a:ext cx="2209200" cy="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70" name="Google Shape;270;p36"/>
          <p:cNvSpPr/>
          <p:nvPr/>
        </p:nvSpPr>
        <p:spPr>
          <a:xfrm>
            <a:off x="1946175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6"/>
          <p:cNvSpPr/>
          <p:nvPr/>
        </p:nvSpPr>
        <p:spPr>
          <a:xfrm>
            <a:off x="1479650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6"/>
          <p:cNvSpPr/>
          <p:nvPr/>
        </p:nvSpPr>
        <p:spPr>
          <a:xfrm>
            <a:off x="4288467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6"/>
          <p:cNvSpPr/>
          <p:nvPr/>
        </p:nvSpPr>
        <p:spPr>
          <a:xfrm>
            <a:off x="2898675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heatmaps:  QELM Fairlearn 50/50 (NN)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37" title="NN_QELM_Fairlearn_50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1017725"/>
            <a:ext cx="5918590" cy="35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7"/>
          <p:cNvSpPr txBox="1"/>
          <p:nvPr>
            <p:ph idx="1" type="body"/>
          </p:nvPr>
        </p:nvSpPr>
        <p:spPr>
          <a:xfrm>
            <a:off x="6164475" y="1302475"/>
            <a:ext cx="2522100" cy="32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QELM feature engineering combined with Fairlearn produces a lower bias model overall, though not for constrained features and in an inexplicable manner.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7"/>
          <p:cNvSpPr/>
          <p:nvPr/>
        </p:nvSpPr>
        <p:spPr>
          <a:xfrm>
            <a:off x="4279800" y="1742350"/>
            <a:ext cx="913800" cy="27525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heatmaps:  SMOTE Fairlearn (XGBoost)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9" name="Google Shape;289;p38" title="XGB_SMOTE_Fairlear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918550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heatmaps:  QELM 30/70 (NN)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39" title="NN_QELM_Fairlearn_307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918568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heatmaps:  QELM 70/30 (NN)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2" name="Google Shape;302;p40" title="NN_QELM_Fairlearn_70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918583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heatmaps:  QELM 30/70 (XGBoost)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9" name="Google Shape;309;p41" title="XGB_QELM_Fairlearn_307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2" y="1017725"/>
            <a:ext cx="5918598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heatmaps:  QELM 50/50 (XGBoost)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6" name="Google Shape;316;p42" title="XGB_QELM_Fairlearn_50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918600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heatmaps:  QELM 70/30 (XGBoost)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3" name="Google Shape;323;p43" title="XGB_QELM_Fairlearn_70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918583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